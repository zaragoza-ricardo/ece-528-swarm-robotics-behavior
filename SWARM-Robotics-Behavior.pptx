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2" r:id="rId4"/>
  </p:sldMasterIdLst>
  <p:sldIdLst>
    <p:sldId id="292" r:id="rId5"/>
    <p:sldId id="257" r:id="rId6"/>
    <p:sldId id="291" r:id="rId7"/>
    <p:sldId id="261" r:id="rId8"/>
    <p:sldId id="280" r:id="rId9"/>
    <p:sldId id="284" r:id="rId10"/>
    <p:sldId id="285" r:id="rId11"/>
    <p:sldId id="286" r:id="rId12"/>
    <p:sldId id="283" r:id="rId13"/>
    <p:sldId id="288" r:id="rId14"/>
    <p:sldId id="287" r:id="rId15"/>
    <p:sldId id="278" r:id="rId16"/>
    <p:sldId id="27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4934956-7CCD-4013-B635-DEC2FC74ACE6}">
          <p14:sldIdLst>
            <p14:sldId id="292"/>
            <p14:sldId id="257"/>
            <p14:sldId id="291"/>
            <p14:sldId id="261"/>
            <p14:sldId id="280"/>
            <p14:sldId id="284"/>
            <p14:sldId id="285"/>
            <p14:sldId id="286"/>
            <p14:sldId id="283"/>
            <p14:sldId id="288"/>
            <p14:sldId id="28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580"/>
  </p:normalViewPr>
  <p:slideViewPr>
    <p:cSldViewPr snapToGrid="0" snapToObjects="1">
      <p:cViewPr varScale="1">
        <p:scale>
          <a:sx n="80" d="100"/>
          <a:sy n="80" d="100"/>
        </p:scale>
        <p:origin x="120"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6479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9722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06277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6789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5/6/2026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40486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5/6/2026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0790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pPr/>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9988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1170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smtClean="0"/>
              <a:pPr/>
              <a:t>5/6/2026</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374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smtClean="0"/>
              <a:pPr/>
              <a:t>5/6/2026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3837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67762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smtClean="0"/>
              <a:pPr/>
              <a:t>5/6/2026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97967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13690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5/6/2026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591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smtClean="0"/>
              <a:pPr/>
              <a:t>5/6/2026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1268597"/>
      </p:ext>
    </p:extLst>
  </p:cSld>
  <p:clrMap bg1="dk1" tx1="lt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www.axialadventure.com/product/1-24-scx24-1967-chevrolet-c10-4wd-truck-rtr/AXI00001V2.html" TargetMode="Externa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youtu.be/asMD70wlka4" TargetMode="External"/><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hyperlink" Target="https://www.youtube.com/watch?v=fQHsLGS3hqU" TargetMode="External"/><Relationship Id="rId4" Type="http://schemas.openxmlformats.org/officeDocument/2006/relationships/hyperlink" Target="https://youtu.be/8eCgVpozRfA"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espressif/esp-idf/tree/c0087486/examples/wifi/espnow" TargetMode="External"/><Relationship Id="rId3" Type="http://schemas.openxmlformats.org/officeDocument/2006/relationships/hyperlink" Target="https://www.espressif.com/en/solutions/low-power-solutions/esp-now" TargetMode="External"/><Relationship Id="rId7" Type="http://schemas.openxmlformats.org/officeDocument/2006/relationships/hyperlink" Target="https://cdn.sparkfun.com/datasheets/Sensors/Proximity/HCSR04.pdf" TargetMode="External"/><Relationship Id="rId2" Type="http://schemas.openxmlformats.org/officeDocument/2006/relationships/hyperlink" Target="https://onlinelibrary.wiley.com/doi/full/10.5402/2013/608164" TargetMode="External"/><Relationship Id="rId1" Type="http://schemas.openxmlformats.org/officeDocument/2006/relationships/slideLayout" Target="../slideLayouts/slideLayout7.xml"/><Relationship Id="rId6" Type="http://schemas.openxmlformats.org/officeDocument/2006/relationships/hyperlink" Target="https://github.com/sparkfun/HC-SR04_UltrasonicSensor/blob/master/Firmware/HC-SR04_UltrasonicSensorExample/HC-SR04_UltrasonicSensorExample.ino" TargetMode="External"/><Relationship Id="rId5" Type="http://schemas.openxmlformats.org/officeDocument/2006/relationships/hyperlink" Target="https://www.youtube.com/watch?v=bEKjCDDUPaU&amp;t=1s" TargetMode="External"/><Relationship Id="rId10" Type="http://schemas.openxmlformats.org/officeDocument/2006/relationships/hyperlink" Target="https://www.axialadventure.com/product/1-24-scx24-1967-chevrolet-c10-4wd-truck-rtr/AXI00001V2.html" TargetMode="External"/><Relationship Id="rId4" Type="http://schemas.openxmlformats.org/officeDocument/2006/relationships/hyperlink" Target="https://www.mdpi.com/2504-446X/7/4/269" TargetMode="External"/><Relationship Id="rId9" Type="http://schemas.openxmlformats.org/officeDocument/2006/relationships/hyperlink" Target="https://github.com/ricardoquesada/bluepad3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D9A3A2-41E2-CCAF-CDB6-BA85692A8A34}"/>
              </a:ext>
            </a:extLst>
          </p:cNvPr>
          <p:cNvPicPr>
            <a:picLocks noChangeAspect="1"/>
          </p:cNvPicPr>
          <p:nvPr/>
        </p:nvPicPr>
        <p:blipFill>
          <a:blip r:embed="rId2"/>
          <a:stretch>
            <a:fillRect/>
          </a:stretch>
        </p:blipFill>
        <p:spPr>
          <a:xfrm>
            <a:off x="952500" y="0"/>
            <a:ext cx="10287000" cy="6858000"/>
          </a:xfrm>
          <a:prstGeom prst="rect">
            <a:avLst/>
          </a:prstGeom>
        </p:spPr>
      </p:pic>
      <p:pic>
        <p:nvPicPr>
          <p:cNvPr id="8" name="Picture 7" descr="A picture containing graphical user interface&#10;&#10;Description automatically generated">
            <a:extLst>
              <a:ext uri="{FF2B5EF4-FFF2-40B4-BE49-F238E27FC236}">
                <a16:creationId xmlns:a16="http://schemas.microsoft.com/office/drawing/2014/main" id="{DA64C9F1-0FDB-BFCD-D7F2-EDB9F62780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2273" y="5741602"/>
            <a:ext cx="3381728" cy="548374"/>
          </a:xfrm>
          <a:prstGeom prst="rect">
            <a:avLst/>
          </a:prstGeom>
        </p:spPr>
      </p:pic>
      <p:sp>
        <p:nvSpPr>
          <p:cNvPr id="9" name="TextBox 8">
            <a:extLst>
              <a:ext uri="{FF2B5EF4-FFF2-40B4-BE49-F238E27FC236}">
                <a16:creationId xmlns:a16="http://schemas.microsoft.com/office/drawing/2014/main" id="{AE32702A-8340-9715-205F-6DB5B433C3B5}"/>
              </a:ext>
            </a:extLst>
          </p:cNvPr>
          <p:cNvSpPr txBox="1"/>
          <p:nvPr/>
        </p:nvSpPr>
        <p:spPr>
          <a:xfrm>
            <a:off x="836907" y="5366646"/>
            <a:ext cx="3301139" cy="923330"/>
          </a:xfrm>
          <a:prstGeom prst="rect">
            <a:avLst/>
          </a:prstGeom>
          <a:noFill/>
        </p:spPr>
        <p:txBody>
          <a:bodyPr wrap="square" rtlCol="0">
            <a:spAutoFit/>
          </a:bodyPr>
          <a:lstStyle/>
          <a:p>
            <a:r>
              <a:rPr lang="en-US" dirty="0">
                <a:solidFill>
                  <a:schemeClr val="bg1"/>
                </a:solidFill>
              </a:rPr>
              <a:t>Ricardo Zaragoza</a:t>
            </a:r>
          </a:p>
          <a:p>
            <a:r>
              <a:rPr lang="en-US" dirty="0">
                <a:solidFill>
                  <a:schemeClr val="bg1"/>
                </a:solidFill>
              </a:rPr>
              <a:t>Spring 2026</a:t>
            </a:r>
          </a:p>
          <a:p>
            <a:r>
              <a:rPr lang="en-US" dirty="0">
                <a:solidFill>
                  <a:schemeClr val="bg1"/>
                </a:solidFill>
              </a:rPr>
              <a:t>Instructor: Aaron Nanas</a:t>
            </a:r>
          </a:p>
        </p:txBody>
      </p:sp>
    </p:spTree>
    <p:extLst>
      <p:ext uri="{BB962C8B-B14F-4D97-AF65-F5344CB8AC3E}">
        <p14:creationId xmlns:p14="http://schemas.microsoft.com/office/powerpoint/2010/main" val="3862471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8" name="Rectangle 17">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266081D-517B-5D43-A7B4-E67DDEDC0B31}"/>
              </a:ext>
            </a:extLst>
          </p:cNvPr>
          <p:cNvSpPr>
            <a:spLocks noGrp="1"/>
          </p:cNvSpPr>
          <p:nvPr>
            <p:ph type="ctrTitle"/>
          </p:nvPr>
        </p:nvSpPr>
        <p:spPr>
          <a:xfrm>
            <a:off x="451514" y="1092994"/>
            <a:ext cx="4310267" cy="5010542"/>
          </a:xfrm>
        </p:spPr>
        <p:txBody>
          <a:bodyPr vert="horz" lIns="91440" tIns="45720" rIns="91440" bIns="45720" rtlCol="0" anchor="ctr">
            <a:normAutofit/>
          </a:bodyPr>
          <a:lstStyle/>
          <a:p>
            <a:r>
              <a:rPr lang="en-US" sz="6000" dirty="0"/>
              <a:t>SWARM Robotics Behavior</a:t>
            </a:r>
            <a:br>
              <a:rPr lang="en-US" sz="6000" dirty="0"/>
            </a:br>
            <a:br>
              <a:rPr lang="en-US" sz="2000" dirty="0"/>
            </a:br>
            <a:r>
              <a:rPr lang="en-US" sz="2000" dirty="0"/>
              <a:t>ECE-528</a:t>
            </a:r>
            <a:br>
              <a:rPr lang="en-US" sz="2000" dirty="0"/>
            </a:br>
            <a:r>
              <a:rPr lang="en-US" sz="2000" dirty="0"/>
              <a:t>Robotics and Embedded Systems</a:t>
            </a:r>
            <a:br>
              <a:rPr lang="en-US" sz="2000" dirty="0"/>
            </a:br>
            <a:br>
              <a:rPr lang="en-US" sz="2000" dirty="0"/>
            </a:br>
            <a:r>
              <a:rPr lang="en-US" sz="1800" b="0" dirty="0"/>
              <a:t>Ricardo Zaragoza</a:t>
            </a:r>
            <a:br>
              <a:rPr lang="en-US" sz="1800" b="0" dirty="0"/>
            </a:br>
            <a:r>
              <a:rPr lang="en-US" sz="1800" b="0" dirty="0"/>
              <a:t>Instructor: Aaron Nanas</a:t>
            </a:r>
            <a:br>
              <a:rPr lang="en-US" sz="1800" b="0" dirty="0"/>
            </a:br>
            <a:r>
              <a:rPr lang="en-US" sz="2000" b="0" dirty="0"/>
              <a:t>Spring 2026</a:t>
            </a:r>
          </a:p>
        </p:txBody>
      </p:sp>
      <p:sp>
        <p:nvSpPr>
          <p:cNvPr id="4" name="Subtitle 3">
            <a:extLst>
              <a:ext uri="{FF2B5EF4-FFF2-40B4-BE49-F238E27FC236}">
                <a16:creationId xmlns:a16="http://schemas.microsoft.com/office/drawing/2014/main" id="{9CA982C5-8822-5F41-B151-CBFC3278D992}"/>
              </a:ext>
            </a:extLst>
          </p:cNvPr>
          <p:cNvSpPr>
            <a:spLocks noGrp="1"/>
          </p:cNvSpPr>
          <p:nvPr>
            <p:ph type="subTitle" idx="1"/>
          </p:nvPr>
        </p:nvSpPr>
        <p:spPr>
          <a:xfrm>
            <a:off x="6008068" y="978993"/>
            <a:ext cx="5732418" cy="5036796"/>
          </a:xfrm>
          <a:effectLst/>
        </p:spPr>
        <p:txBody>
          <a:bodyPr vert="horz" lIns="91440" tIns="45720" rIns="91440" bIns="45720" rtlCol="0" anchor="ctr">
            <a:normAutofit fontScale="85000" lnSpcReduction="10000"/>
          </a:bodyPr>
          <a:lstStyle/>
          <a:p>
            <a:pPr>
              <a:lnSpc>
                <a:spcPct val="90000"/>
              </a:lnSpc>
            </a:pPr>
            <a:r>
              <a:rPr lang="en-US" sz="2000" b="1" dirty="0">
                <a:solidFill>
                  <a:schemeClr val="tx1">
                    <a:lumMod val="65000"/>
                    <a:lumOff val="35000"/>
                  </a:schemeClr>
                </a:solidFill>
              </a:rPr>
              <a:t>Project Overview:</a:t>
            </a:r>
          </a:p>
          <a:p>
            <a:pPr>
              <a:lnSpc>
                <a:spcPct val="120000"/>
              </a:lnSpc>
            </a:pPr>
            <a:r>
              <a:rPr lang="en-US" sz="2000" dirty="0"/>
              <a:t>The goal of this project is to recreate SWARM robotics  behavior using a combination  of the Tiva C Series TM4C123G and the MSP432 microcontrollers for sensor readings and motor control. A wireless communication network will be implemented using the ESP32 microcontroller.</a:t>
            </a:r>
          </a:p>
          <a:p>
            <a:pPr>
              <a:lnSpc>
                <a:spcPct val="120000"/>
              </a:lnSpc>
            </a:pPr>
            <a:endParaRPr lang="en-US" sz="2000" dirty="0"/>
          </a:p>
          <a:p>
            <a:pPr>
              <a:lnSpc>
                <a:spcPct val="120000"/>
              </a:lnSpc>
            </a:pPr>
            <a:r>
              <a:rPr lang="en-US" sz="2000" dirty="0"/>
              <a:t>Swarm robotics is a system where multiple simple robots collaborate to achieve a common goal without a central controller. Each robot responds to their peers and the environment using local decision making-rules. This idea is inspired by natural system like bees and ants where complex group behavior emerges from simple individual actions.</a:t>
            </a:r>
          </a:p>
          <a:p>
            <a:pPr>
              <a:lnSpc>
                <a:spcPct val="90000"/>
              </a:lnSpc>
              <a:buFont typeface="Wingdings 2" charset="2"/>
              <a:buChar char=""/>
            </a:pPr>
            <a:endParaRPr lang="en-US" sz="2000" dirty="0"/>
          </a:p>
        </p:txBody>
      </p:sp>
      <p:pic>
        <p:nvPicPr>
          <p:cNvPr id="3" name="Picture 2" descr="A picture containing graphical user interface&#10;&#10;Description automatically generated">
            <a:extLst>
              <a:ext uri="{FF2B5EF4-FFF2-40B4-BE49-F238E27FC236}">
                <a16:creationId xmlns:a16="http://schemas.microsoft.com/office/drawing/2014/main" id="{3FF0EA93-FF35-23A7-473D-8C0F29B425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2531" y="6015789"/>
            <a:ext cx="3381728" cy="548374"/>
          </a:xfrm>
          <a:prstGeom prst="rect">
            <a:avLst/>
          </a:prstGeom>
        </p:spPr>
      </p:pic>
    </p:spTree>
    <p:extLst>
      <p:ext uri="{BB962C8B-B14F-4D97-AF65-F5344CB8AC3E}">
        <p14:creationId xmlns:p14="http://schemas.microsoft.com/office/powerpoint/2010/main" val="198402273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1D19E-89EA-A7A0-95FB-DE299E2A97EF}"/>
            </a:ext>
          </a:extLst>
        </p:cNvPr>
        <p:cNvGrpSpPr/>
        <p:nvPr/>
      </p:nvGrpSpPr>
      <p:grpSpPr>
        <a:xfrm>
          <a:off x="0" y="0"/>
          <a:ext cx="0" cy="0"/>
          <a:chOff x="0" y="0"/>
          <a:chExt cx="0" cy="0"/>
        </a:xfrm>
      </p:grpSpPr>
      <p:sp>
        <p:nvSpPr>
          <p:cNvPr id="11" name="Title 8">
            <a:extLst>
              <a:ext uri="{FF2B5EF4-FFF2-40B4-BE49-F238E27FC236}">
                <a16:creationId xmlns:a16="http://schemas.microsoft.com/office/drawing/2014/main" id="{FC32E0CB-CDFE-4423-FF53-619F561BA0E6}"/>
              </a:ext>
            </a:extLst>
          </p:cNvPr>
          <p:cNvSpPr txBox="1">
            <a:spLocks/>
          </p:cNvSpPr>
          <p:nvPr/>
        </p:nvSpPr>
        <p:spPr>
          <a:xfrm>
            <a:off x="1011238" y="408100"/>
            <a:ext cx="7546166" cy="550929"/>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r" defTabSz="457200" rtl="0" eaLnBrk="1" latinLnBrk="0" hangingPunct="1">
              <a:spcBef>
                <a:spcPct val="0"/>
              </a:spcBef>
              <a:buNone/>
              <a:defRPr sz="4800" b="1" kern="1200" cap="none">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800" dirty="0"/>
              <a:t>SWARM Robotics main characteristics</a:t>
            </a:r>
          </a:p>
        </p:txBody>
      </p:sp>
      <p:pic>
        <p:nvPicPr>
          <p:cNvPr id="4" name="Picture 3">
            <a:extLst>
              <a:ext uri="{FF2B5EF4-FFF2-40B4-BE49-F238E27FC236}">
                <a16:creationId xmlns:a16="http://schemas.microsoft.com/office/drawing/2014/main" id="{B8CB8002-F049-67E0-9403-66B9557B20E0}"/>
              </a:ext>
            </a:extLst>
          </p:cNvPr>
          <p:cNvPicPr>
            <a:picLocks noChangeAspect="1"/>
          </p:cNvPicPr>
          <p:nvPr/>
        </p:nvPicPr>
        <p:blipFill>
          <a:blip r:embed="rId2"/>
          <a:stretch>
            <a:fillRect/>
          </a:stretch>
        </p:blipFill>
        <p:spPr>
          <a:xfrm>
            <a:off x="1092813" y="1295193"/>
            <a:ext cx="9077731" cy="4594121"/>
          </a:xfrm>
          <a:prstGeom prst="rect">
            <a:avLst/>
          </a:prstGeom>
        </p:spPr>
      </p:pic>
    </p:spTree>
    <p:extLst>
      <p:ext uri="{BB962C8B-B14F-4D97-AF65-F5344CB8AC3E}">
        <p14:creationId xmlns:p14="http://schemas.microsoft.com/office/powerpoint/2010/main" val="2153923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49A71A-2EF4-FAD3-3478-01A376C985C6}"/>
              </a:ext>
            </a:extLst>
          </p:cNvPr>
          <p:cNvPicPr>
            <a:picLocks noChangeAspect="1"/>
          </p:cNvPicPr>
          <p:nvPr/>
        </p:nvPicPr>
        <p:blipFill>
          <a:blip r:embed="rId2"/>
          <a:stretch>
            <a:fillRect/>
          </a:stretch>
        </p:blipFill>
        <p:spPr>
          <a:xfrm>
            <a:off x="2480234" y="1417433"/>
            <a:ext cx="7231527" cy="4523466"/>
          </a:xfrm>
          <a:prstGeom prst="rect">
            <a:avLst/>
          </a:prstGeom>
        </p:spPr>
      </p:pic>
      <p:sp>
        <p:nvSpPr>
          <p:cNvPr id="14" name="TextBox 13">
            <a:extLst>
              <a:ext uri="{FF2B5EF4-FFF2-40B4-BE49-F238E27FC236}">
                <a16:creationId xmlns:a16="http://schemas.microsoft.com/office/drawing/2014/main" id="{E3F95F6F-ADA0-4609-91B0-E08A46C8306A}"/>
              </a:ext>
            </a:extLst>
          </p:cNvPr>
          <p:cNvSpPr txBox="1"/>
          <p:nvPr/>
        </p:nvSpPr>
        <p:spPr>
          <a:xfrm>
            <a:off x="1833561" y="467254"/>
            <a:ext cx="8524875" cy="400110"/>
          </a:xfrm>
          <a:prstGeom prst="rect">
            <a:avLst/>
          </a:prstGeom>
          <a:noFill/>
        </p:spPr>
        <p:txBody>
          <a:bodyPr wrap="square" rtlCol="0">
            <a:spAutoFit/>
          </a:bodyPr>
          <a:lstStyle/>
          <a:p>
            <a:pPr algn="ctr"/>
            <a:r>
              <a:rPr lang="en-US" sz="2000" b="1" dirty="0">
                <a:solidFill>
                  <a:schemeClr val="bg1"/>
                </a:solidFill>
              </a:rPr>
              <a:t>Block diagram of components</a:t>
            </a:r>
          </a:p>
        </p:txBody>
      </p:sp>
    </p:spTree>
    <p:extLst>
      <p:ext uri="{BB962C8B-B14F-4D97-AF65-F5344CB8AC3E}">
        <p14:creationId xmlns:p14="http://schemas.microsoft.com/office/powerpoint/2010/main" val="3180469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240A915-AE53-4BDF-41EA-B028DD823756}"/>
              </a:ext>
            </a:extLst>
          </p:cNvPr>
          <p:cNvSpPr>
            <a:spLocks noGrp="1"/>
          </p:cNvSpPr>
          <p:nvPr>
            <p:ph type="body" idx="4294967295"/>
          </p:nvPr>
        </p:nvSpPr>
        <p:spPr>
          <a:xfrm>
            <a:off x="456067" y="1658320"/>
            <a:ext cx="11529104" cy="4326102"/>
          </a:xfrm>
        </p:spPr>
        <p:txBody>
          <a:bodyPr>
            <a:normAutofit fontScale="25000" lnSpcReduction="20000"/>
          </a:bodyPr>
          <a:lstStyle/>
          <a:p>
            <a:pPr marL="0" indent="0" algn="l">
              <a:buNone/>
            </a:pPr>
            <a:r>
              <a:rPr lang="en-US" sz="4900" dirty="0"/>
              <a:t>System Architecture Overview:</a:t>
            </a:r>
          </a:p>
          <a:p>
            <a:r>
              <a:rPr lang="en-US" sz="4900" dirty="0"/>
              <a:t>The proposed system architecture is divided into three main layers. Control, communication and peripherals. The Tiva C series and MPS432 microcontrollers are used for low-level controls such as reading  sensors, driving motors and handling peripheral operations. The ESP32 is used as the communication layer because it provides built-in wireless capability that is useful for coordination between robots in swarm. In addition, an Xbox controller is integrated through Bluetooth to provide instant manual override capability for both robots. </a:t>
            </a:r>
          </a:p>
          <a:p>
            <a:r>
              <a:rPr lang="en-US" sz="4900" dirty="0"/>
              <a:t>One important design choice was  to separate real-time control from wireless communication. Each robot has a two microcontrollers: a Tiva or MSP432 for handling hardware related-tasks, and an ESP32  that is use for managing communication. If communication layer fails or is interrupted, the local microcontroller can still manage basic robot behavior.</a:t>
            </a:r>
          </a:p>
          <a:p>
            <a:r>
              <a:rPr lang="en-US" sz="4900" dirty="0"/>
              <a:t>The architecture is also inspired by insect swarm behavior, where simple agents rely on local rules and limited communication to produce coordinated group actions. In this system, robots begin in manual mode, where commands from the Xbox controller are sent to an ESP32 initiator and then broadcast to selected robots. The user may control one robot individually or multiple robots simultaneously based on the selected robot ID. If the controller signal is lost, the robots transition into autonomous mode. This idea is reflected in the robots by using a finite state machine and sensors to interreact with the with the environment for local decision making.</a:t>
            </a:r>
          </a:p>
          <a:p>
            <a:r>
              <a:rPr lang="en-US" sz="4900" dirty="0"/>
              <a:t>During autonomous operation, each robot runs a finite state machine and interacts with its environment to determine its current behavior. State information may be shared among peers using ESP-NOW to support swarm coordination. Obstacle detection is currently based on an ultrasonic sensor because only one main peripheral sensor is available at this stage, the navigation logic is designed so that the robot reverses when an obstacle is detected, then checks left and right before selecting a new direction. This allows the robot to continue moving through the environment while avoiding obstructions. Manual override remains an essential part of the architecture, allowing the user to retake control at any time.</a:t>
            </a:r>
          </a:p>
          <a:p>
            <a:pPr marL="0" indent="0">
              <a:buNone/>
            </a:pPr>
            <a:endParaRPr lang="en-US" sz="3500" dirty="0"/>
          </a:p>
          <a:p>
            <a:endParaRPr lang="en-US" dirty="0"/>
          </a:p>
          <a:p>
            <a:pPr marL="0" indent="0" algn="l">
              <a:buNone/>
            </a:pPr>
            <a:endParaRPr lang="en-US" dirty="0"/>
          </a:p>
          <a:p>
            <a:pPr algn="l"/>
            <a:endParaRPr lang="en-US" dirty="0"/>
          </a:p>
        </p:txBody>
      </p:sp>
      <p:sp>
        <p:nvSpPr>
          <p:cNvPr id="11" name="Title 8">
            <a:extLst>
              <a:ext uri="{FF2B5EF4-FFF2-40B4-BE49-F238E27FC236}">
                <a16:creationId xmlns:a16="http://schemas.microsoft.com/office/drawing/2014/main" id="{2A429B34-75F3-5F7E-7AD9-4E9DDD18AAFA}"/>
              </a:ext>
            </a:extLst>
          </p:cNvPr>
          <p:cNvSpPr txBox="1">
            <a:spLocks/>
          </p:cNvSpPr>
          <p:nvPr/>
        </p:nvSpPr>
        <p:spPr>
          <a:xfrm>
            <a:off x="1011238" y="408100"/>
            <a:ext cx="3667109" cy="550929"/>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r" defTabSz="457200" rtl="0" eaLnBrk="1" latinLnBrk="0" hangingPunct="1">
              <a:spcBef>
                <a:spcPct val="0"/>
              </a:spcBef>
              <a:buNone/>
              <a:defRPr sz="4800" b="1" kern="1200" cap="none">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800" dirty="0"/>
              <a:t>System Architecture</a:t>
            </a:r>
          </a:p>
        </p:txBody>
      </p:sp>
    </p:spTree>
    <p:extLst>
      <p:ext uri="{BB962C8B-B14F-4D97-AF65-F5344CB8AC3E}">
        <p14:creationId xmlns:p14="http://schemas.microsoft.com/office/powerpoint/2010/main" val="794505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1DF7B-4621-B59B-4FA7-1096125C26EF}"/>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0F01B40A-2D18-187B-DBE3-59BD683D5416}"/>
              </a:ext>
            </a:extLst>
          </p:cNvPr>
          <p:cNvSpPr>
            <a:spLocks noGrp="1"/>
          </p:cNvSpPr>
          <p:nvPr>
            <p:ph type="body" idx="4294967295"/>
          </p:nvPr>
        </p:nvSpPr>
        <p:spPr>
          <a:xfrm>
            <a:off x="625104" y="1291116"/>
            <a:ext cx="5603168" cy="1725282"/>
          </a:xfrm>
        </p:spPr>
        <p:txBody>
          <a:bodyPr>
            <a:normAutofit fontScale="92500" lnSpcReduction="20000"/>
          </a:bodyPr>
          <a:lstStyle/>
          <a:p>
            <a:pPr marL="0" indent="0" algn="l">
              <a:buNone/>
            </a:pPr>
            <a:endParaRPr lang="en-US" dirty="0"/>
          </a:p>
          <a:p>
            <a:pPr marL="0" indent="0" algn="l">
              <a:buNone/>
            </a:pPr>
            <a:r>
              <a:rPr lang="en-US" dirty="0"/>
              <a:t>Robot 1 is built on a repurposed </a:t>
            </a:r>
            <a:r>
              <a:rPr lang="en-US" dirty="0">
                <a:hlinkClick r:id="rId2"/>
              </a:rPr>
              <a:t>RC crawler </a:t>
            </a:r>
            <a:r>
              <a:rPr lang="en-US" dirty="0"/>
              <a:t>chassis and uses the Tiva microcontroller for control. Existing components from the RC crawler, including the servo motor, DC motor, LED lights, and 7.4V battery, were reused as part of the embedded system design.</a:t>
            </a:r>
          </a:p>
        </p:txBody>
      </p:sp>
      <p:sp>
        <p:nvSpPr>
          <p:cNvPr id="11" name="Title 8">
            <a:extLst>
              <a:ext uri="{FF2B5EF4-FFF2-40B4-BE49-F238E27FC236}">
                <a16:creationId xmlns:a16="http://schemas.microsoft.com/office/drawing/2014/main" id="{27606EAE-C110-B99C-592A-8D7DDF8D7A52}"/>
              </a:ext>
            </a:extLst>
          </p:cNvPr>
          <p:cNvSpPr txBox="1">
            <a:spLocks/>
          </p:cNvSpPr>
          <p:nvPr/>
        </p:nvSpPr>
        <p:spPr>
          <a:xfrm>
            <a:off x="625104" y="569588"/>
            <a:ext cx="4725328" cy="646981"/>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r" defTabSz="457200" rtl="0" eaLnBrk="1" latinLnBrk="0" hangingPunct="1">
              <a:spcBef>
                <a:spcPct val="0"/>
              </a:spcBef>
              <a:buNone/>
              <a:defRPr sz="4800" b="1" kern="1200" cap="none">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800" dirty="0"/>
              <a:t>Interfaces and Peripherals</a:t>
            </a:r>
          </a:p>
        </p:txBody>
      </p:sp>
      <p:graphicFrame>
        <p:nvGraphicFramePr>
          <p:cNvPr id="2" name="Table 1">
            <a:extLst>
              <a:ext uri="{FF2B5EF4-FFF2-40B4-BE49-F238E27FC236}">
                <a16:creationId xmlns:a16="http://schemas.microsoft.com/office/drawing/2014/main" id="{E52A0E5E-96EE-E31F-E890-22C97EE5776C}"/>
              </a:ext>
            </a:extLst>
          </p:cNvPr>
          <p:cNvGraphicFramePr>
            <a:graphicFrameLocks noGrp="1"/>
          </p:cNvGraphicFramePr>
          <p:nvPr>
            <p:extLst>
              <p:ext uri="{D42A27DB-BD31-4B8C-83A1-F6EECF244321}">
                <p14:modId xmlns:p14="http://schemas.microsoft.com/office/powerpoint/2010/main" val="2125307548"/>
              </p:ext>
            </p:extLst>
          </p:nvPr>
        </p:nvGraphicFramePr>
        <p:xfrm>
          <a:off x="721744" y="3165492"/>
          <a:ext cx="5762445" cy="3048000"/>
        </p:xfrm>
        <a:graphic>
          <a:graphicData uri="http://schemas.openxmlformats.org/drawingml/2006/table">
            <a:tbl>
              <a:tblPr firstRow="1" bandRow="1">
                <a:tableStyleId>{5C22544A-7EE6-4342-B048-85BDC9FD1C3A}</a:tableStyleId>
              </a:tblPr>
              <a:tblGrid>
                <a:gridCol w="1359967">
                  <a:extLst>
                    <a:ext uri="{9D8B030D-6E8A-4147-A177-3AD203B41FA5}">
                      <a16:colId xmlns:a16="http://schemas.microsoft.com/office/drawing/2014/main" val="4152600572"/>
                    </a:ext>
                  </a:extLst>
                </a:gridCol>
                <a:gridCol w="1716671">
                  <a:extLst>
                    <a:ext uri="{9D8B030D-6E8A-4147-A177-3AD203B41FA5}">
                      <a16:colId xmlns:a16="http://schemas.microsoft.com/office/drawing/2014/main" val="1205627910"/>
                    </a:ext>
                  </a:extLst>
                </a:gridCol>
                <a:gridCol w="2685807">
                  <a:extLst>
                    <a:ext uri="{9D8B030D-6E8A-4147-A177-3AD203B41FA5}">
                      <a16:colId xmlns:a16="http://schemas.microsoft.com/office/drawing/2014/main" val="2687573371"/>
                    </a:ext>
                  </a:extLst>
                </a:gridCol>
              </a:tblGrid>
              <a:tr h="143484">
                <a:tc gridSpan="3">
                  <a:txBody>
                    <a:bodyPr/>
                    <a:lstStyle/>
                    <a:p>
                      <a:pPr algn="ctr"/>
                      <a:r>
                        <a:rPr lang="en-US" sz="1800" dirty="0"/>
                        <a:t>Tiva C Series TM4C123G</a:t>
                      </a:r>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63621970"/>
                  </a:ext>
                </a:extLst>
              </a:tr>
              <a:tr h="322839">
                <a:tc>
                  <a:txBody>
                    <a:bodyPr/>
                    <a:lstStyle/>
                    <a:p>
                      <a:pPr algn="ctr"/>
                      <a:r>
                        <a:rPr lang="en-US" sz="1600" b="1" dirty="0"/>
                        <a:t>MCU peripheral</a:t>
                      </a:r>
                    </a:p>
                  </a:txBody>
                  <a:tcPr/>
                </a:tc>
                <a:tc>
                  <a:txBody>
                    <a:bodyPr/>
                    <a:lstStyle/>
                    <a:p>
                      <a:pPr algn="ctr"/>
                      <a:r>
                        <a:rPr lang="en-US" sz="1600" b="1" dirty="0"/>
                        <a:t>Components</a:t>
                      </a:r>
                    </a:p>
                  </a:txBody>
                  <a:tcPr/>
                </a:tc>
                <a:tc>
                  <a:txBody>
                    <a:bodyPr/>
                    <a:lstStyle/>
                    <a:p>
                      <a:pPr algn="ctr"/>
                      <a:r>
                        <a:rPr lang="en-US" sz="1600" b="1" dirty="0"/>
                        <a:t>Pins</a:t>
                      </a:r>
                    </a:p>
                  </a:txBody>
                  <a:tcPr/>
                </a:tc>
                <a:extLst>
                  <a:ext uri="{0D108BD9-81ED-4DB2-BD59-A6C34878D82A}">
                    <a16:rowId xmlns:a16="http://schemas.microsoft.com/office/drawing/2014/main" val="4087214218"/>
                  </a:ext>
                </a:extLst>
              </a:tr>
              <a:tr h="251097">
                <a:tc>
                  <a:txBody>
                    <a:bodyPr/>
                    <a:lstStyle/>
                    <a:p>
                      <a:r>
                        <a:rPr lang="en-US" dirty="0"/>
                        <a:t>UART</a:t>
                      </a:r>
                    </a:p>
                  </a:txBody>
                  <a:tcPr/>
                </a:tc>
                <a:tc>
                  <a:txBody>
                    <a:bodyPr/>
                    <a:lstStyle/>
                    <a:p>
                      <a:r>
                        <a:rPr lang="en-US" dirty="0"/>
                        <a:t>ESP32</a:t>
                      </a:r>
                    </a:p>
                  </a:txBody>
                  <a:tcPr/>
                </a:tc>
                <a:tc>
                  <a:txBody>
                    <a:bodyPr/>
                    <a:lstStyle/>
                    <a:p>
                      <a:r>
                        <a:rPr lang="en-US" dirty="0"/>
                        <a:t>PC7 (Tx), PC6 (Rx)</a:t>
                      </a:r>
                    </a:p>
                  </a:txBody>
                  <a:tcPr/>
                </a:tc>
                <a:extLst>
                  <a:ext uri="{0D108BD9-81ED-4DB2-BD59-A6C34878D82A}">
                    <a16:rowId xmlns:a16="http://schemas.microsoft.com/office/drawing/2014/main" val="2253461560"/>
                  </a:ext>
                </a:extLst>
              </a:tr>
              <a:tr h="466323">
                <a:tc>
                  <a:txBody>
                    <a:bodyPr/>
                    <a:lstStyle/>
                    <a:p>
                      <a:r>
                        <a:rPr lang="en-US" dirty="0"/>
                        <a:t>GPIO</a:t>
                      </a:r>
                    </a:p>
                  </a:txBody>
                  <a:tcPr/>
                </a:tc>
                <a:tc>
                  <a:txBody>
                    <a:bodyPr/>
                    <a:lstStyle/>
                    <a:p>
                      <a:r>
                        <a:rPr lang="en-US" dirty="0"/>
                        <a:t>Ultra Sonic Sensor</a:t>
                      </a:r>
                    </a:p>
                  </a:txBody>
                  <a:tcPr/>
                </a:tc>
                <a:tc>
                  <a:txBody>
                    <a:bodyPr/>
                    <a:lstStyle/>
                    <a:p>
                      <a:r>
                        <a:rPr lang="en-US" dirty="0"/>
                        <a:t>PC4 (Trigger), PC5 (Echo)</a:t>
                      </a:r>
                    </a:p>
                  </a:txBody>
                  <a:tcPr/>
                </a:tc>
                <a:extLst>
                  <a:ext uri="{0D108BD9-81ED-4DB2-BD59-A6C34878D82A}">
                    <a16:rowId xmlns:a16="http://schemas.microsoft.com/office/drawing/2014/main" val="3763953210"/>
                  </a:ext>
                </a:extLst>
              </a:tr>
              <a:tr h="251097">
                <a:tc>
                  <a:txBody>
                    <a:bodyPr/>
                    <a:lstStyle/>
                    <a:p>
                      <a:r>
                        <a:rPr lang="en-US" dirty="0"/>
                        <a:t>GPIO</a:t>
                      </a:r>
                    </a:p>
                  </a:txBody>
                  <a:tcPr/>
                </a:tc>
                <a:tc>
                  <a:txBody>
                    <a:bodyPr/>
                    <a:lstStyle/>
                    <a:p>
                      <a:r>
                        <a:rPr lang="en-US" dirty="0"/>
                        <a:t>LEDs</a:t>
                      </a:r>
                    </a:p>
                  </a:txBody>
                  <a:tcPr/>
                </a:tc>
                <a:tc>
                  <a:txBody>
                    <a:bodyPr/>
                    <a:lstStyle/>
                    <a:p>
                      <a:r>
                        <a:rPr lang="en-US" dirty="0"/>
                        <a:t>PF1</a:t>
                      </a:r>
                    </a:p>
                  </a:txBody>
                  <a:tcPr/>
                </a:tc>
                <a:extLst>
                  <a:ext uri="{0D108BD9-81ED-4DB2-BD59-A6C34878D82A}">
                    <a16:rowId xmlns:a16="http://schemas.microsoft.com/office/drawing/2014/main" val="1005514998"/>
                  </a:ext>
                </a:extLst>
              </a:tr>
              <a:tr h="251097">
                <a:tc>
                  <a:txBody>
                    <a:bodyPr/>
                    <a:lstStyle/>
                    <a:p>
                      <a:r>
                        <a:rPr lang="en-US" dirty="0"/>
                        <a:t>PWM</a:t>
                      </a:r>
                    </a:p>
                  </a:txBody>
                  <a:tcPr/>
                </a:tc>
                <a:tc>
                  <a:txBody>
                    <a:bodyPr/>
                    <a:lstStyle/>
                    <a:p>
                      <a:r>
                        <a:rPr lang="en-US" dirty="0"/>
                        <a:t>Motor Driver</a:t>
                      </a:r>
                    </a:p>
                  </a:txBody>
                  <a:tcPr/>
                </a:tc>
                <a:tc>
                  <a:txBody>
                    <a:bodyPr/>
                    <a:lstStyle/>
                    <a:p>
                      <a:r>
                        <a:rPr lang="en-US" dirty="0"/>
                        <a:t>PE4, PE5</a:t>
                      </a:r>
                    </a:p>
                  </a:txBody>
                  <a:tcPr/>
                </a:tc>
                <a:extLst>
                  <a:ext uri="{0D108BD9-81ED-4DB2-BD59-A6C34878D82A}">
                    <a16:rowId xmlns:a16="http://schemas.microsoft.com/office/drawing/2014/main" val="2402418471"/>
                  </a:ext>
                </a:extLst>
              </a:tr>
              <a:tr h="251097">
                <a:tc>
                  <a:txBody>
                    <a:bodyPr/>
                    <a:lstStyle/>
                    <a:p>
                      <a:r>
                        <a:rPr lang="en-US" dirty="0"/>
                        <a:t>PWM</a:t>
                      </a:r>
                    </a:p>
                  </a:txBody>
                  <a:tcPr/>
                </a:tc>
                <a:tc>
                  <a:txBody>
                    <a:bodyPr/>
                    <a:lstStyle/>
                    <a:p>
                      <a:r>
                        <a:rPr lang="en-US" dirty="0"/>
                        <a:t>Servo Motor</a:t>
                      </a:r>
                    </a:p>
                  </a:txBody>
                  <a:tcPr/>
                </a:tc>
                <a:tc>
                  <a:txBody>
                    <a:bodyPr/>
                    <a:lstStyle/>
                    <a:p>
                      <a:r>
                        <a:rPr lang="en-US" dirty="0"/>
                        <a:t>PB6</a:t>
                      </a:r>
                    </a:p>
                  </a:txBody>
                  <a:tcPr/>
                </a:tc>
                <a:extLst>
                  <a:ext uri="{0D108BD9-81ED-4DB2-BD59-A6C34878D82A}">
                    <a16:rowId xmlns:a16="http://schemas.microsoft.com/office/drawing/2014/main" val="2264538717"/>
                  </a:ext>
                </a:extLst>
              </a:tr>
            </a:tbl>
          </a:graphicData>
        </a:graphic>
      </p:graphicFrame>
      <p:pic>
        <p:nvPicPr>
          <p:cNvPr id="7" name="Picture 6">
            <a:extLst>
              <a:ext uri="{FF2B5EF4-FFF2-40B4-BE49-F238E27FC236}">
                <a16:creationId xmlns:a16="http://schemas.microsoft.com/office/drawing/2014/main" id="{2C7B8447-5C3A-0F0E-C4C8-750AFC32C4A6}"/>
              </a:ext>
            </a:extLst>
          </p:cNvPr>
          <p:cNvPicPr>
            <a:picLocks noChangeAspect="1"/>
          </p:cNvPicPr>
          <p:nvPr/>
        </p:nvPicPr>
        <p:blipFill>
          <a:blip r:embed="rId3"/>
          <a:srcRect t="26540" r="27952" b="10692"/>
          <a:stretch>
            <a:fillRect/>
          </a:stretch>
        </p:blipFill>
        <p:spPr>
          <a:xfrm>
            <a:off x="6763934" y="3428999"/>
            <a:ext cx="4261658" cy="2784493"/>
          </a:xfrm>
          <a:prstGeom prst="rect">
            <a:avLst/>
          </a:prstGeom>
        </p:spPr>
      </p:pic>
      <p:pic>
        <p:nvPicPr>
          <p:cNvPr id="9" name="Picture 8">
            <a:extLst>
              <a:ext uri="{FF2B5EF4-FFF2-40B4-BE49-F238E27FC236}">
                <a16:creationId xmlns:a16="http://schemas.microsoft.com/office/drawing/2014/main" id="{D5C7E48A-7CD8-CBD1-6E1B-3865E3B21015}"/>
              </a:ext>
            </a:extLst>
          </p:cNvPr>
          <p:cNvPicPr>
            <a:picLocks noChangeAspect="1"/>
          </p:cNvPicPr>
          <p:nvPr/>
        </p:nvPicPr>
        <p:blipFill>
          <a:blip r:embed="rId4"/>
          <a:srcRect l="7579" t="12075" r="3837" b="3271"/>
          <a:stretch>
            <a:fillRect/>
          </a:stretch>
        </p:blipFill>
        <p:spPr>
          <a:xfrm>
            <a:off x="7165578" y="644508"/>
            <a:ext cx="3458369" cy="2247592"/>
          </a:xfrm>
          <a:prstGeom prst="rect">
            <a:avLst/>
          </a:prstGeom>
        </p:spPr>
      </p:pic>
    </p:spTree>
    <p:extLst>
      <p:ext uri="{BB962C8B-B14F-4D97-AF65-F5344CB8AC3E}">
        <p14:creationId xmlns:p14="http://schemas.microsoft.com/office/powerpoint/2010/main" val="309216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34213-4B20-3C93-1193-78E9844E79F3}"/>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05372483-A6D9-92EB-9FF7-1329EDD428AA}"/>
              </a:ext>
            </a:extLst>
          </p:cNvPr>
          <p:cNvSpPr>
            <a:spLocks noGrp="1"/>
          </p:cNvSpPr>
          <p:nvPr>
            <p:ph type="body" idx="4294967295"/>
          </p:nvPr>
        </p:nvSpPr>
        <p:spPr>
          <a:xfrm>
            <a:off x="681486" y="1546165"/>
            <a:ext cx="4216370" cy="1240167"/>
          </a:xfrm>
        </p:spPr>
        <p:txBody>
          <a:bodyPr>
            <a:normAutofit fontScale="92500" lnSpcReduction="20000"/>
          </a:bodyPr>
          <a:lstStyle/>
          <a:p>
            <a:pPr marL="0" indent="0" algn="l">
              <a:buNone/>
            </a:pPr>
            <a:r>
              <a:rPr lang="en-US" dirty="0"/>
              <a:t>Robot 2 is built on the TI-RSLK-MAX chassis and  used the MSP432 microcontroller for control. The robot is equipped with DC motor and an ultra sonic sensor.</a:t>
            </a:r>
          </a:p>
          <a:p>
            <a:pPr algn="l"/>
            <a:endParaRPr lang="en-US" dirty="0"/>
          </a:p>
        </p:txBody>
      </p:sp>
      <p:sp>
        <p:nvSpPr>
          <p:cNvPr id="11" name="Title 8">
            <a:extLst>
              <a:ext uri="{FF2B5EF4-FFF2-40B4-BE49-F238E27FC236}">
                <a16:creationId xmlns:a16="http://schemas.microsoft.com/office/drawing/2014/main" id="{5026F71B-520A-6BDF-87EC-FDEACF05A71D}"/>
              </a:ext>
            </a:extLst>
          </p:cNvPr>
          <p:cNvSpPr txBox="1">
            <a:spLocks/>
          </p:cNvSpPr>
          <p:nvPr/>
        </p:nvSpPr>
        <p:spPr>
          <a:xfrm>
            <a:off x="681486" y="713716"/>
            <a:ext cx="4725328" cy="646981"/>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r" defTabSz="457200" rtl="0" eaLnBrk="1" latinLnBrk="0" hangingPunct="1">
              <a:spcBef>
                <a:spcPct val="0"/>
              </a:spcBef>
              <a:buNone/>
              <a:defRPr sz="4800" b="1" kern="1200" cap="none">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800" dirty="0"/>
              <a:t>Interfaces and Peripherals</a:t>
            </a:r>
          </a:p>
        </p:txBody>
      </p:sp>
      <p:graphicFrame>
        <p:nvGraphicFramePr>
          <p:cNvPr id="2" name="Table 1">
            <a:extLst>
              <a:ext uri="{FF2B5EF4-FFF2-40B4-BE49-F238E27FC236}">
                <a16:creationId xmlns:a16="http://schemas.microsoft.com/office/drawing/2014/main" id="{541324EA-0154-D39C-A41E-70F6EDE57FC7}"/>
              </a:ext>
            </a:extLst>
          </p:cNvPr>
          <p:cNvGraphicFramePr>
            <a:graphicFrameLocks noGrp="1"/>
          </p:cNvGraphicFramePr>
          <p:nvPr>
            <p:extLst>
              <p:ext uri="{D42A27DB-BD31-4B8C-83A1-F6EECF244321}">
                <p14:modId xmlns:p14="http://schemas.microsoft.com/office/powerpoint/2010/main" val="1744666675"/>
              </p:ext>
            </p:extLst>
          </p:nvPr>
        </p:nvGraphicFramePr>
        <p:xfrm>
          <a:off x="681486" y="3416060"/>
          <a:ext cx="6633713" cy="2651760"/>
        </p:xfrm>
        <a:graphic>
          <a:graphicData uri="http://schemas.openxmlformats.org/drawingml/2006/table">
            <a:tbl>
              <a:tblPr firstRow="1" bandRow="1">
                <a:tableStyleId>{5C22544A-7EE6-4342-B048-85BDC9FD1C3A}</a:tableStyleId>
              </a:tblPr>
              <a:tblGrid>
                <a:gridCol w="1556705">
                  <a:extLst>
                    <a:ext uri="{9D8B030D-6E8A-4147-A177-3AD203B41FA5}">
                      <a16:colId xmlns:a16="http://schemas.microsoft.com/office/drawing/2014/main" val="4152600572"/>
                    </a:ext>
                  </a:extLst>
                </a:gridCol>
                <a:gridCol w="1979692">
                  <a:extLst>
                    <a:ext uri="{9D8B030D-6E8A-4147-A177-3AD203B41FA5}">
                      <a16:colId xmlns:a16="http://schemas.microsoft.com/office/drawing/2014/main" val="1205627910"/>
                    </a:ext>
                  </a:extLst>
                </a:gridCol>
                <a:gridCol w="3097316">
                  <a:extLst>
                    <a:ext uri="{9D8B030D-6E8A-4147-A177-3AD203B41FA5}">
                      <a16:colId xmlns:a16="http://schemas.microsoft.com/office/drawing/2014/main" val="2687573371"/>
                    </a:ext>
                  </a:extLst>
                </a:gridCol>
              </a:tblGrid>
              <a:tr h="328819">
                <a:tc gridSpan="3">
                  <a:txBody>
                    <a:bodyPr/>
                    <a:lstStyle/>
                    <a:p>
                      <a:pPr algn="ctr"/>
                      <a:r>
                        <a:rPr lang="en-US" sz="1800" dirty="0"/>
                        <a:t>MSP 432</a:t>
                      </a:r>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63621970"/>
                  </a:ext>
                </a:extLst>
              </a:tr>
              <a:tr h="575433">
                <a:tc>
                  <a:txBody>
                    <a:bodyPr/>
                    <a:lstStyle/>
                    <a:p>
                      <a:pPr algn="ctr"/>
                      <a:r>
                        <a:rPr lang="en-US" b="1" dirty="0"/>
                        <a:t>MCU peripheral</a:t>
                      </a:r>
                    </a:p>
                  </a:txBody>
                  <a:tcPr/>
                </a:tc>
                <a:tc>
                  <a:txBody>
                    <a:bodyPr/>
                    <a:lstStyle/>
                    <a:p>
                      <a:pPr algn="ctr"/>
                      <a:r>
                        <a:rPr lang="en-US" b="1" dirty="0"/>
                        <a:t>Components</a:t>
                      </a:r>
                    </a:p>
                  </a:txBody>
                  <a:tcPr/>
                </a:tc>
                <a:tc>
                  <a:txBody>
                    <a:bodyPr/>
                    <a:lstStyle/>
                    <a:p>
                      <a:pPr algn="ctr"/>
                      <a:r>
                        <a:rPr lang="en-US" b="1" dirty="0"/>
                        <a:t>Pins</a:t>
                      </a:r>
                    </a:p>
                  </a:txBody>
                  <a:tcPr/>
                </a:tc>
                <a:extLst>
                  <a:ext uri="{0D108BD9-81ED-4DB2-BD59-A6C34878D82A}">
                    <a16:rowId xmlns:a16="http://schemas.microsoft.com/office/drawing/2014/main" val="4087214218"/>
                  </a:ext>
                </a:extLst>
              </a:tr>
              <a:tr h="328819">
                <a:tc>
                  <a:txBody>
                    <a:bodyPr/>
                    <a:lstStyle/>
                    <a:p>
                      <a:r>
                        <a:rPr lang="en-US" dirty="0"/>
                        <a:t>UART</a:t>
                      </a:r>
                    </a:p>
                  </a:txBody>
                  <a:tcPr/>
                </a:tc>
                <a:tc>
                  <a:txBody>
                    <a:bodyPr/>
                    <a:lstStyle/>
                    <a:p>
                      <a:r>
                        <a:rPr lang="en-US" dirty="0"/>
                        <a:t>ESP32</a:t>
                      </a:r>
                    </a:p>
                  </a:txBody>
                  <a:tcPr/>
                </a:tc>
                <a:tc>
                  <a:txBody>
                    <a:bodyPr/>
                    <a:lstStyle/>
                    <a:p>
                      <a:r>
                        <a:rPr lang="en-US" dirty="0"/>
                        <a:t> (P9.6Rx),  (P9.7Tx)</a:t>
                      </a:r>
                    </a:p>
                  </a:txBody>
                  <a:tcPr/>
                </a:tc>
                <a:extLst>
                  <a:ext uri="{0D108BD9-81ED-4DB2-BD59-A6C34878D82A}">
                    <a16:rowId xmlns:a16="http://schemas.microsoft.com/office/drawing/2014/main" val="2253461560"/>
                  </a:ext>
                </a:extLst>
              </a:tr>
              <a:tr h="575433">
                <a:tc>
                  <a:txBody>
                    <a:bodyPr/>
                    <a:lstStyle/>
                    <a:p>
                      <a:r>
                        <a:rPr lang="en-US" dirty="0"/>
                        <a:t>GPIO</a:t>
                      </a:r>
                    </a:p>
                  </a:txBody>
                  <a:tcPr/>
                </a:tc>
                <a:tc>
                  <a:txBody>
                    <a:bodyPr/>
                    <a:lstStyle/>
                    <a:p>
                      <a:r>
                        <a:rPr lang="en-US" dirty="0"/>
                        <a:t>Ultra Sonic Sensor</a:t>
                      </a:r>
                    </a:p>
                  </a:txBody>
                  <a:tcPr/>
                </a:tc>
                <a:tc>
                  <a:txBody>
                    <a:bodyPr/>
                    <a:lstStyle/>
                    <a:p>
                      <a:r>
                        <a:rPr lang="en-US" dirty="0"/>
                        <a:t> (P8.2Trigger),  (P8.3Echo)</a:t>
                      </a:r>
                    </a:p>
                  </a:txBody>
                  <a:tcPr/>
                </a:tc>
                <a:extLst>
                  <a:ext uri="{0D108BD9-81ED-4DB2-BD59-A6C34878D82A}">
                    <a16:rowId xmlns:a16="http://schemas.microsoft.com/office/drawing/2014/main" val="3763953210"/>
                  </a:ext>
                </a:extLst>
              </a:tr>
              <a:tr h="328819">
                <a:tc>
                  <a:txBody>
                    <a:bodyPr/>
                    <a:lstStyle/>
                    <a:p>
                      <a:r>
                        <a:rPr lang="en-US" dirty="0"/>
                        <a:t>PWM</a:t>
                      </a:r>
                    </a:p>
                  </a:txBody>
                  <a:tcPr/>
                </a:tc>
                <a:tc>
                  <a:txBody>
                    <a:bodyPr/>
                    <a:lstStyle/>
                    <a:p>
                      <a:r>
                        <a:rPr lang="en-US" dirty="0"/>
                        <a:t>DC motors</a:t>
                      </a:r>
                    </a:p>
                  </a:txBody>
                  <a:tcPr/>
                </a:tc>
                <a:tc>
                  <a:txBody>
                    <a:bodyPr/>
                    <a:lstStyle/>
                    <a:p>
                      <a:r>
                        <a:rPr lang="en-US" sz="1800" kern="1200" dirty="0">
                          <a:solidFill>
                            <a:schemeClr val="dk1"/>
                          </a:solidFill>
                          <a:latin typeface="+mn-lt"/>
                          <a:ea typeface="+mn-ea"/>
                          <a:cs typeface="+mn-cs"/>
                        </a:rPr>
                        <a:t>P2.6 (PM_TA0.3) and P2.7 (PM_TA0.4) </a:t>
                      </a:r>
                      <a:endParaRPr lang="en-US" dirty="0"/>
                    </a:p>
                  </a:txBody>
                  <a:tcPr/>
                </a:tc>
                <a:extLst>
                  <a:ext uri="{0D108BD9-81ED-4DB2-BD59-A6C34878D82A}">
                    <a16:rowId xmlns:a16="http://schemas.microsoft.com/office/drawing/2014/main" val="2402418471"/>
                  </a:ext>
                </a:extLst>
              </a:tr>
            </a:tbl>
          </a:graphicData>
        </a:graphic>
      </p:graphicFrame>
      <p:pic>
        <p:nvPicPr>
          <p:cNvPr id="4" name="Picture 3">
            <a:extLst>
              <a:ext uri="{FF2B5EF4-FFF2-40B4-BE49-F238E27FC236}">
                <a16:creationId xmlns:a16="http://schemas.microsoft.com/office/drawing/2014/main" id="{AC604266-7463-CCE6-92A6-651EE536E68D}"/>
              </a:ext>
            </a:extLst>
          </p:cNvPr>
          <p:cNvPicPr>
            <a:picLocks noChangeAspect="1"/>
          </p:cNvPicPr>
          <p:nvPr/>
        </p:nvPicPr>
        <p:blipFill>
          <a:blip r:embed="rId2"/>
          <a:srcRect l="12296" t="12578" r="21384" b="16729"/>
          <a:stretch>
            <a:fillRect/>
          </a:stretch>
        </p:blipFill>
        <p:spPr>
          <a:xfrm>
            <a:off x="7686136" y="476935"/>
            <a:ext cx="3676522" cy="2939125"/>
          </a:xfrm>
          <a:prstGeom prst="rect">
            <a:avLst/>
          </a:prstGeom>
        </p:spPr>
      </p:pic>
      <p:pic>
        <p:nvPicPr>
          <p:cNvPr id="6" name="Picture 5">
            <a:extLst>
              <a:ext uri="{FF2B5EF4-FFF2-40B4-BE49-F238E27FC236}">
                <a16:creationId xmlns:a16="http://schemas.microsoft.com/office/drawing/2014/main" id="{2795779A-6B17-3292-C451-35049F1E64C2}"/>
              </a:ext>
            </a:extLst>
          </p:cNvPr>
          <p:cNvPicPr>
            <a:picLocks noChangeAspect="1"/>
          </p:cNvPicPr>
          <p:nvPr/>
        </p:nvPicPr>
        <p:blipFill>
          <a:blip r:embed="rId3"/>
          <a:srcRect l="18239" t="2390" r="22893" b="25787"/>
          <a:stretch>
            <a:fillRect/>
          </a:stretch>
        </p:blipFill>
        <p:spPr>
          <a:xfrm>
            <a:off x="7882966" y="3614467"/>
            <a:ext cx="3282862" cy="3004029"/>
          </a:xfrm>
          <a:prstGeom prst="rect">
            <a:avLst/>
          </a:prstGeom>
        </p:spPr>
      </p:pic>
    </p:spTree>
    <p:extLst>
      <p:ext uri="{BB962C8B-B14F-4D97-AF65-F5344CB8AC3E}">
        <p14:creationId xmlns:p14="http://schemas.microsoft.com/office/powerpoint/2010/main" val="1698585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B30EA-EEB3-DADF-5016-4C6320A7A69F}"/>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D7A2C028-EC31-30C4-2877-D6B6E290E815}"/>
              </a:ext>
            </a:extLst>
          </p:cNvPr>
          <p:cNvSpPr>
            <a:spLocks noGrp="1"/>
          </p:cNvSpPr>
          <p:nvPr>
            <p:ph type="body" idx="4294967295"/>
          </p:nvPr>
        </p:nvSpPr>
        <p:spPr>
          <a:xfrm>
            <a:off x="1011238" y="1274702"/>
            <a:ext cx="9996067" cy="3435321"/>
          </a:xfrm>
        </p:spPr>
        <p:txBody>
          <a:bodyPr>
            <a:normAutofit fontScale="85000" lnSpcReduction="20000"/>
          </a:bodyPr>
          <a:lstStyle/>
          <a:p>
            <a:pPr marL="0" indent="0" algn="l">
              <a:buNone/>
            </a:pPr>
            <a:r>
              <a:rPr lang="en-US" dirty="0"/>
              <a:t>ESP NOW is a wireless communication protocol developed by </a:t>
            </a:r>
            <a:r>
              <a:rPr lang="en-US" dirty="0" err="1"/>
              <a:t>Espressif</a:t>
            </a:r>
            <a:r>
              <a:rPr lang="en-US" dirty="0"/>
              <a:t>, and it allows simple communication between ESP devices with no Wi-Fi configuration required.</a:t>
            </a:r>
          </a:p>
          <a:p>
            <a:pPr marL="0" indent="0">
              <a:buNone/>
            </a:pPr>
            <a:r>
              <a:rPr lang="en-US" dirty="0"/>
              <a:t>ESP NOW can be configured as unidirectional and Bidirectional modes. It provides persistent connection after paring. The Xbox controller is connected to an ESP32 that acts as an ESP-NOW initiator while the ESP32 microcontrollers on the robots can use bidirectional communication modes with their peers.</a:t>
            </a:r>
          </a:p>
          <a:p>
            <a:r>
              <a:rPr lang="en-US" dirty="0"/>
              <a:t>One-way communication</a:t>
            </a:r>
          </a:p>
          <a:p>
            <a:pPr lvl="1"/>
            <a:r>
              <a:rPr lang="en-US" dirty="0"/>
              <a:t>Initiator -&gt; responder</a:t>
            </a:r>
          </a:p>
          <a:p>
            <a:pPr lvl="1"/>
            <a:r>
              <a:rPr lang="en-US" dirty="0"/>
              <a:t>One Initiator -&gt; multiple responders</a:t>
            </a:r>
          </a:p>
          <a:p>
            <a:pPr lvl="1"/>
            <a:r>
              <a:rPr lang="en-US" dirty="0"/>
              <a:t>One responder -&gt; multiple initiators</a:t>
            </a:r>
          </a:p>
          <a:p>
            <a:pPr lvl="1"/>
            <a:endParaRPr lang="en-US" dirty="0"/>
          </a:p>
          <a:p>
            <a:r>
              <a:rPr lang="en-US" dirty="0"/>
              <a:t>Two-way communication</a:t>
            </a:r>
          </a:p>
          <a:p>
            <a:pPr lvl="1"/>
            <a:r>
              <a:rPr lang="en-US" dirty="0"/>
              <a:t>Each device act as a responder and initiator</a:t>
            </a:r>
          </a:p>
          <a:p>
            <a:pPr marL="0" indent="0">
              <a:buNone/>
            </a:pPr>
            <a:endParaRPr lang="en-US" dirty="0"/>
          </a:p>
        </p:txBody>
      </p:sp>
      <p:sp>
        <p:nvSpPr>
          <p:cNvPr id="11" name="Title 8">
            <a:extLst>
              <a:ext uri="{FF2B5EF4-FFF2-40B4-BE49-F238E27FC236}">
                <a16:creationId xmlns:a16="http://schemas.microsoft.com/office/drawing/2014/main" id="{0686E0F3-7AE1-888F-E76A-376BD9A71F96}"/>
              </a:ext>
            </a:extLst>
          </p:cNvPr>
          <p:cNvSpPr txBox="1">
            <a:spLocks/>
          </p:cNvSpPr>
          <p:nvPr/>
        </p:nvSpPr>
        <p:spPr>
          <a:xfrm>
            <a:off x="1011238" y="552090"/>
            <a:ext cx="4725328" cy="646981"/>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r" defTabSz="457200" rtl="0" eaLnBrk="1" latinLnBrk="0" hangingPunct="1">
              <a:spcBef>
                <a:spcPct val="0"/>
              </a:spcBef>
              <a:buNone/>
              <a:defRPr sz="4800" b="1" kern="1200" cap="none">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800" dirty="0"/>
              <a:t>Interfaces and Peripherals</a:t>
            </a:r>
          </a:p>
        </p:txBody>
      </p:sp>
      <p:graphicFrame>
        <p:nvGraphicFramePr>
          <p:cNvPr id="2" name="Table 1">
            <a:extLst>
              <a:ext uri="{FF2B5EF4-FFF2-40B4-BE49-F238E27FC236}">
                <a16:creationId xmlns:a16="http://schemas.microsoft.com/office/drawing/2014/main" id="{30FCD041-F307-AA2D-3350-A9FB21DE7305}"/>
              </a:ext>
            </a:extLst>
          </p:cNvPr>
          <p:cNvGraphicFramePr>
            <a:graphicFrameLocks noGrp="1"/>
          </p:cNvGraphicFramePr>
          <p:nvPr>
            <p:extLst>
              <p:ext uri="{D42A27DB-BD31-4B8C-83A1-F6EECF244321}">
                <p14:modId xmlns:p14="http://schemas.microsoft.com/office/powerpoint/2010/main" val="183493155"/>
              </p:ext>
            </p:extLst>
          </p:nvPr>
        </p:nvGraphicFramePr>
        <p:xfrm>
          <a:off x="6284563" y="2774198"/>
          <a:ext cx="5432155" cy="2377440"/>
        </p:xfrm>
        <a:graphic>
          <a:graphicData uri="http://schemas.openxmlformats.org/drawingml/2006/table">
            <a:tbl>
              <a:tblPr firstRow="1" bandRow="1">
                <a:tableStyleId>{5C22544A-7EE6-4342-B048-85BDC9FD1C3A}</a:tableStyleId>
              </a:tblPr>
              <a:tblGrid>
                <a:gridCol w="1282016">
                  <a:extLst>
                    <a:ext uri="{9D8B030D-6E8A-4147-A177-3AD203B41FA5}">
                      <a16:colId xmlns:a16="http://schemas.microsoft.com/office/drawing/2014/main" val="4152600572"/>
                    </a:ext>
                  </a:extLst>
                </a:gridCol>
                <a:gridCol w="1618275">
                  <a:extLst>
                    <a:ext uri="{9D8B030D-6E8A-4147-A177-3AD203B41FA5}">
                      <a16:colId xmlns:a16="http://schemas.microsoft.com/office/drawing/2014/main" val="1205627910"/>
                    </a:ext>
                  </a:extLst>
                </a:gridCol>
                <a:gridCol w="2531864">
                  <a:extLst>
                    <a:ext uri="{9D8B030D-6E8A-4147-A177-3AD203B41FA5}">
                      <a16:colId xmlns:a16="http://schemas.microsoft.com/office/drawing/2014/main" val="2687573371"/>
                    </a:ext>
                  </a:extLst>
                </a:gridCol>
              </a:tblGrid>
              <a:tr h="261017">
                <a:tc gridSpan="3">
                  <a:txBody>
                    <a:bodyPr/>
                    <a:lstStyle/>
                    <a:p>
                      <a:pPr algn="ctr"/>
                      <a:r>
                        <a:rPr lang="en-US" sz="1800" dirty="0"/>
                        <a:t>ESP32</a:t>
                      </a:r>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63621970"/>
                  </a:ext>
                </a:extLst>
              </a:tr>
              <a:tr h="652543">
                <a:tc>
                  <a:txBody>
                    <a:bodyPr/>
                    <a:lstStyle/>
                    <a:p>
                      <a:pPr algn="ctr"/>
                      <a:r>
                        <a:rPr lang="en-US" b="1" dirty="0"/>
                        <a:t>MCU peripheral</a:t>
                      </a:r>
                    </a:p>
                  </a:txBody>
                  <a:tcPr/>
                </a:tc>
                <a:tc>
                  <a:txBody>
                    <a:bodyPr/>
                    <a:lstStyle/>
                    <a:p>
                      <a:pPr algn="ctr"/>
                      <a:r>
                        <a:rPr lang="en-US" b="1" dirty="0"/>
                        <a:t>Components</a:t>
                      </a:r>
                    </a:p>
                  </a:txBody>
                  <a:tcPr/>
                </a:tc>
                <a:tc>
                  <a:txBody>
                    <a:bodyPr/>
                    <a:lstStyle/>
                    <a:p>
                      <a:pPr algn="ctr"/>
                      <a:r>
                        <a:rPr lang="en-US" b="1" dirty="0"/>
                        <a:t>Pins</a:t>
                      </a:r>
                    </a:p>
                  </a:txBody>
                  <a:tcPr/>
                </a:tc>
                <a:extLst>
                  <a:ext uri="{0D108BD9-81ED-4DB2-BD59-A6C34878D82A}">
                    <a16:rowId xmlns:a16="http://schemas.microsoft.com/office/drawing/2014/main" val="4087214218"/>
                  </a:ext>
                </a:extLst>
              </a:tr>
              <a:tr h="261017">
                <a:tc>
                  <a:txBody>
                    <a:bodyPr/>
                    <a:lstStyle/>
                    <a:p>
                      <a:r>
                        <a:rPr lang="en-US" dirty="0"/>
                        <a:t>UART</a:t>
                      </a:r>
                    </a:p>
                  </a:txBody>
                  <a:tcPr/>
                </a:tc>
                <a:tc>
                  <a:txBody>
                    <a:bodyPr/>
                    <a:lstStyle/>
                    <a:p>
                      <a:r>
                        <a:rPr lang="en-US" dirty="0"/>
                        <a:t>ESP32</a:t>
                      </a:r>
                    </a:p>
                  </a:txBody>
                  <a:tcPr/>
                </a:tc>
                <a:tc>
                  <a:txBody>
                    <a:bodyPr/>
                    <a:lstStyle/>
                    <a:p>
                      <a:r>
                        <a:rPr lang="en-US" dirty="0"/>
                        <a:t>17 (Tx), 16 (Rx)</a:t>
                      </a:r>
                    </a:p>
                  </a:txBody>
                  <a:tcPr/>
                </a:tc>
                <a:extLst>
                  <a:ext uri="{0D108BD9-81ED-4DB2-BD59-A6C34878D82A}">
                    <a16:rowId xmlns:a16="http://schemas.microsoft.com/office/drawing/2014/main" val="2253461560"/>
                  </a:ext>
                </a:extLst>
              </a:tr>
              <a:tr h="261017">
                <a:tc>
                  <a:txBody>
                    <a:bodyPr/>
                    <a:lstStyle/>
                    <a:p>
                      <a:r>
                        <a:rPr lang="en-US" dirty="0"/>
                        <a:t>ESP NOW</a:t>
                      </a:r>
                    </a:p>
                  </a:txBody>
                  <a:tcPr/>
                </a:tc>
                <a:tc>
                  <a:txBody>
                    <a:bodyPr/>
                    <a:lstStyle/>
                    <a:p>
                      <a:r>
                        <a:rPr lang="en-US" dirty="0"/>
                        <a:t>ESP32</a:t>
                      </a:r>
                    </a:p>
                  </a:txBody>
                  <a:tcPr/>
                </a:tc>
                <a:tc>
                  <a:txBody>
                    <a:bodyPr/>
                    <a:lstStyle/>
                    <a:p>
                      <a:r>
                        <a:rPr lang="en-US" dirty="0"/>
                        <a:t>Wireless</a:t>
                      </a:r>
                    </a:p>
                  </a:txBody>
                  <a:tcPr/>
                </a:tc>
                <a:extLst>
                  <a:ext uri="{0D108BD9-81ED-4DB2-BD59-A6C34878D82A}">
                    <a16:rowId xmlns:a16="http://schemas.microsoft.com/office/drawing/2014/main" val="3763953210"/>
                  </a:ext>
                </a:extLst>
              </a:tr>
              <a:tr h="261017">
                <a:tc>
                  <a:txBody>
                    <a:bodyPr/>
                    <a:lstStyle/>
                    <a:p>
                      <a:r>
                        <a:rPr lang="en-US" dirty="0"/>
                        <a:t>Bluetooth</a:t>
                      </a:r>
                    </a:p>
                  </a:txBody>
                  <a:tcPr/>
                </a:tc>
                <a:tc>
                  <a:txBody>
                    <a:bodyPr/>
                    <a:lstStyle/>
                    <a:p>
                      <a:r>
                        <a:rPr lang="en-US" dirty="0"/>
                        <a:t>ESP32</a:t>
                      </a:r>
                    </a:p>
                  </a:txBody>
                  <a:tcPr/>
                </a:tc>
                <a:tc>
                  <a:txBody>
                    <a:bodyPr/>
                    <a:lstStyle/>
                    <a:p>
                      <a:r>
                        <a:rPr lang="en-US" dirty="0"/>
                        <a:t>Wireless</a:t>
                      </a:r>
                    </a:p>
                  </a:txBody>
                  <a:tcPr/>
                </a:tc>
                <a:extLst>
                  <a:ext uri="{0D108BD9-81ED-4DB2-BD59-A6C34878D82A}">
                    <a16:rowId xmlns:a16="http://schemas.microsoft.com/office/drawing/2014/main" val="1005514998"/>
                  </a:ext>
                </a:extLst>
              </a:tr>
            </a:tbl>
          </a:graphicData>
        </a:graphic>
      </p:graphicFrame>
      <p:pic>
        <p:nvPicPr>
          <p:cNvPr id="4" name="Picture 3">
            <a:extLst>
              <a:ext uri="{FF2B5EF4-FFF2-40B4-BE49-F238E27FC236}">
                <a16:creationId xmlns:a16="http://schemas.microsoft.com/office/drawing/2014/main" id="{0333F858-5EF2-CFCF-0163-791682EAC286}"/>
              </a:ext>
            </a:extLst>
          </p:cNvPr>
          <p:cNvPicPr>
            <a:picLocks noChangeAspect="1"/>
          </p:cNvPicPr>
          <p:nvPr/>
        </p:nvPicPr>
        <p:blipFill>
          <a:blip r:embed="rId2"/>
          <a:stretch>
            <a:fillRect/>
          </a:stretch>
        </p:blipFill>
        <p:spPr>
          <a:xfrm>
            <a:off x="1622845" y="4525506"/>
            <a:ext cx="4284593" cy="2199957"/>
          </a:xfrm>
          <a:prstGeom prst="rect">
            <a:avLst/>
          </a:prstGeom>
        </p:spPr>
      </p:pic>
    </p:spTree>
    <p:extLst>
      <p:ext uri="{BB962C8B-B14F-4D97-AF65-F5344CB8AC3E}">
        <p14:creationId xmlns:p14="http://schemas.microsoft.com/office/powerpoint/2010/main" val="1884275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A9A8-2428-7D8A-EE5F-73A625D9A99B}"/>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1909D0E1-C0CD-C175-BDB2-3B82D96ABDDF}"/>
              </a:ext>
            </a:extLst>
          </p:cNvPr>
          <p:cNvSpPr>
            <a:spLocks noGrp="1"/>
          </p:cNvSpPr>
          <p:nvPr>
            <p:ph type="body" idx="4294967295"/>
          </p:nvPr>
        </p:nvSpPr>
        <p:spPr>
          <a:xfrm>
            <a:off x="466438" y="1273503"/>
            <a:ext cx="4288453" cy="1401253"/>
          </a:xfrm>
        </p:spPr>
        <p:txBody>
          <a:bodyPr>
            <a:normAutofit fontScale="85000" lnSpcReduction="20000"/>
          </a:bodyPr>
          <a:lstStyle/>
          <a:p>
            <a:pPr marL="0" indent="0" algn="l">
              <a:buNone/>
            </a:pPr>
            <a:endParaRPr lang="en-US" dirty="0"/>
          </a:p>
          <a:p>
            <a:pPr algn="l"/>
            <a:endParaRPr lang="en-US" dirty="0"/>
          </a:p>
          <a:p>
            <a:pPr marL="0" indent="0" algn="l">
              <a:buNone/>
            </a:pPr>
            <a:r>
              <a:rPr lang="en-US" dirty="0"/>
              <a:t>Robot 2 (</a:t>
            </a:r>
            <a:r>
              <a:rPr lang="en-US" b="1" dirty="0"/>
              <a:t>MPS432</a:t>
            </a:r>
            <a:r>
              <a:rPr lang="en-US" dirty="0"/>
              <a:t>), switching from manual inputs to autonomous state machine, after no input is detect from UART.</a:t>
            </a:r>
          </a:p>
          <a:p>
            <a:pPr algn="l"/>
            <a:endParaRPr lang="en-US" dirty="0"/>
          </a:p>
          <a:p>
            <a:pPr algn="l"/>
            <a:endParaRPr lang="en-US" dirty="0"/>
          </a:p>
        </p:txBody>
      </p:sp>
      <p:sp>
        <p:nvSpPr>
          <p:cNvPr id="11" name="Title 8">
            <a:extLst>
              <a:ext uri="{FF2B5EF4-FFF2-40B4-BE49-F238E27FC236}">
                <a16:creationId xmlns:a16="http://schemas.microsoft.com/office/drawing/2014/main" id="{AE734DBC-B23B-F248-9B8A-0DB0D07880CD}"/>
              </a:ext>
            </a:extLst>
          </p:cNvPr>
          <p:cNvSpPr txBox="1">
            <a:spLocks/>
          </p:cNvSpPr>
          <p:nvPr/>
        </p:nvSpPr>
        <p:spPr>
          <a:xfrm>
            <a:off x="466438" y="442432"/>
            <a:ext cx="10742667" cy="646981"/>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r" defTabSz="457200" rtl="0" eaLnBrk="1" latinLnBrk="0" hangingPunct="1">
              <a:spcBef>
                <a:spcPct val="0"/>
              </a:spcBef>
              <a:buNone/>
              <a:defRPr sz="4800" b="1" kern="1200" cap="none">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800" dirty="0"/>
              <a:t>Verification and Testing: sensor readings and motor control</a:t>
            </a:r>
          </a:p>
        </p:txBody>
      </p:sp>
      <p:pic>
        <p:nvPicPr>
          <p:cNvPr id="5" name="Picture 4">
            <a:extLst>
              <a:ext uri="{FF2B5EF4-FFF2-40B4-BE49-F238E27FC236}">
                <a16:creationId xmlns:a16="http://schemas.microsoft.com/office/drawing/2014/main" id="{7106086F-F873-46D3-EB54-9E0F46F49D6F}"/>
              </a:ext>
            </a:extLst>
          </p:cNvPr>
          <p:cNvPicPr>
            <a:picLocks noChangeAspect="1"/>
          </p:cNvPicPr>
          <p:nvPr/>
        </p:nvPicPr>
        <p:blipFill>
          <a:blip r:embed="rId2"/>
          <a:stretch>
            <a:fillRect/>
          </a:stretch>
        </p:blipFill>
        <p:spPr>
          <a:xfrm>
            <a:off x="571214" y="2771387"/>
            <a:ext cx="4096322" cy="2781688"/>
          </a:xfrm>
          <a:prstGeom prst="rect">
            <a:avLst/>
          </a:prstGeom>
        </p:spPr>
      </p:pic>
      <p:sp>
        <p:nvSpPr>
          <p:cNvPr id="6" name="Text Placeholder 9">
            <a:extLst>
              <a:ext uri="{FF2B5EF4-FFF2-40B4-BE49-F238E27FC236}">
                <a16:creationId xmlns:a16="http://schemas.microsoft.com/office/drawing/2014/main" id="{FB571E32-8CF2-2BAE-794C-4D661A40B5C9}"/>
              </a:ext>
            </a:extLst>
          </p:cNvPr>
          <p:cNvSpPr txBox="1">
            <a:spLocks/>
          </p:cNvSpPr>
          <p:nvPr/>
        </p:nvSpPr>
        <p:spPr>
          <a:xfrm>
            <a:off x="6096001" y="1229772"/>
            <a:ext cx="4664336" cy="1498629"/>
          </a:xfrm>
          <a:prstGeom prst="rect">
            <a:avLst/>
          </a:prstGeom>
          <a:effectLst>
            <a:outerShdw blurRad="50800" dir="14400000">
              <a:srgbClr val="000000">
                <a:alpha val="40000"/>
              </a:srgbClr>
            </a:outerShdw>
          </a:effectLst>
        </p:spPr>
        <p:txBody>
          <a:bodyPr vert="horz" lIns="91440" tIns="45720" rIns="91440" bIns="45720" rtlCol="0" anchor="ctr">
            <a:normAutofit fontScale="77500" lnSpcReduction="2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Wingdings 2" charset="2"/>
              <a:buNone/>
            </a:pPr>
            <a:endParaRPr lang="en-US" dirty="0"/>
          </a:p>
          <a:p>
            <a:endParaRPr lang="en-US" dirty="0"/>
          </a:p>
          <a:p>
            <a:pPr marL="0" indent="0">
              <a:buFont typeface="Wingdings 2" charset="2"/>
              <a:buNone/>
            </a:pPr>
            <a:r>
              <a:rPr lang="en-US" dirty="0"/>
              <a:t>Robot 1 (</a:t>
            </a:r>
            <a:r>
              <a:rPr lang="en-US" b="1" dirty="0"/>
              <a:t>Tiva</a:t>
            </a:r>
            <a:r>
              <a:rPr lang="en-US" dirty="0"/>
              <a:t>), switching from autonomous state machine to manual controller inputs when UART is detected. This example show the issue encountered when switch to manual from autonomous mode.</a:t>
            </a:r>
          </a:p>
          <a:p>
            <a:endParaRPr lang="en-US" dirty="0"/>
          </a:p>
          <a:p>
            <a:endParaRPr lang="en-US" dirty="0"/>
          </a:p>
        </p:txBody>
      </p:sp>
      <p:pic>
        <p:nvPicPr>
          <p:cNvPr id="8" name="Picture 7">
            <a:extLst>
              <a:ext uri="{FF2B5EF4-FFF2-40B4-BE49-F238E27FC236}">
                <a16:creationId xmlns:a16="http://schemas.microsoft.com/office/drawing/2014/main" id="{2DE78796-A1F7-C199-E815-0D6C4B8FA1B6}"/>
              </a:ext>
            </a:extLst>
          </p:cNvPr>
          <p:cNvPicPr>
            <a:picLocks noChangeAspect="1"/>
          </p:cNvPicPr>
          <p:nvPr/>
        </p:nvPicPr>
        <p:blipFill>
          <a:blip r:embed="rId3"/>
          <a:stretch>
            <a:fillRect/>
          </a:stretch>
        </p:blipFill>
        <p:spPr>
          <a:xfrm>
            <a:off x="6471883" y="2600325"/>
            <a:ext cx="3815117" cy="3629362"/>
          </a:xfrm>
          <a:prstGeom prst="rect">
            <a:avLst/>
          </a:prstGeom>
        </p:spPr>
      </p:pic>
    </p:spTree>
    <p:extLst>
      <p:ext uri="{BB962C8B-B14F-4D97-AF65-F5344CB8AC3E}">
        <p14:creationId xmlns:p14="http://schemas.microsoft.com/office/powerpoint/2010/main" val="4076028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8241-E2E9-6286-DFA9-6B30C4B79EF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F3179745-1672-FDE3-AA9C-C9A938E0B4ED}"/>
              </a:ext>
            </a:extLst>
          </p:cNvPr>
          <p:cNvSpPr>
            <a:spLocks noGrp="1"/>
          </p:cNvSpPr>
          <p:nvPr>
            <p:ph type="body" idx="4294967295"/>
          </p:nvPr>
        </p:nvSpPr>
        <p:spPr>
          <a:xfrm>
            <a:off x="466439" y="1327150"/>
            <a:ext cx="4301504" cy="1206500"/>
          </a:xfrm>
        </p:spPr>
        <p:txBody>
          <a:bodyPr>
            <a:normAutofit fontScale="92500"/>
          </a:bodyPr>
          <a:lstStyle/>
          <a:p>
            <a:pPr marL="0" indent="0" algn="l">
              <a:buNone/>
            </a:pPr>
            <a:endParaRPr lang="en-US" dirty="0"/>
          </a:p>
          <a:p>
            <a:pPr algn="l"/>
            <a:endParaRPr lang="en-US" dirty="0"/>
          </a:p>
          <a:p>
            <a:pPr marL="0" indent="0" algn="l">
              <a:buNone/>
            </a:pPr>
            <a:r>
              <a:rPr lang="en-US" dirty="0"/>
              <a:t>ESP NOW Initiator sending commands</a:t>
            </a:r>
          </a:p>
          <a:p>
            <a:pPr algn="l"/>
            <a:endParaRPr lang="en-US" dirty="0"/>
          </a:p>
          <a:p>
            <a:pPr algn="l"/>
            <a:endParaRPr lang="en-US" dirty="0"/>
          </a:p>
        </p:txBody>
      </p:sp>
      <p:sp>
        <p:nvSpPr>
          <p:cNvPr id="11" name="Title 8">
            <a:extLst>
              <a:ext uri="{FF2B5EF4-FFF2-40B4-BE49-F238E27FC236}">
                <a16:creationId xmlns:a16="http://schemas.microsoft.com/office/drawing/2014/main" id="{14EAE3DB-500B-999E-31EF-ECBCFA3F27A6}"/>
              </a:ext>
            </a:extLst>
          </p:cNvPr>
          <p:cNvSpPr txBox="1">
            <a:spLocks/>
          </p:cNvSpPr>
          <p:nvPr/>
        </p:nvSpPr>
        <p:spPr>
          <a:xfrm>
            <a:off x="466438" y="442432"/>
            <a:ext cx="10537184" cy="646981"/>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r" defTabSz="457200" rtl="0" eaLnBrk="1" latinLnBrk="0" hangingPunct="1">
              <a:spcBef>
                <a:spcPct val="0"/>
              </a:spcBef>
              <a:buNone/>
              <a:defRPr sz="4800" b="1" kern="1200" cap="none">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800" dirty="0"/>
              <a:t>Verification and Testing: wireless communication</a:t>
            </a:r>
          </a:p>
        </p:txBody>
      </p:sp>
      <p:sp>
        <p:nvSpPr>
          <p:cNvPr id="6" name="Text Placeholder 9">
            <a:extLst>
              <a:ext uri="{FF2B5EF4-FFF2-40B4-BE49-F238E27FC236}">
                <a16:creationId xmlns:a16="http://schemas.microsoft.com/office/drawing/2014/main" id="{9222163C-BB5A-B92B-97CC-6D3F20C7D4AC}"/>
              </a:ext>
            </a:extLst>
          </p:cNvPr>
          <p:cNvSpPr txBox="1">
            <a:spLocks/>
          </p:cNvSpPr>
          <p:nvPr/>
        </p:nvSpPr>
        <p:spPr>
          <a:xfrm>
            <a:off x="6471883" y="1157965"/>
            <a:ext cx="4819324" cy="1401254"/>
          </a:xfrm>
          <a:prstGeom prst="rect">
            <a:avLst/>
          </a:prstGeom>
          <a:effectLst>
            <a:outerShdw blurRad="50800" dir="14400000">
              <a:srgbClr val="000000">
                <a:alpha val="40000"/>
              </a:srgbClr>
            </a:outerShdw>
          </a:effectLst>
        </p:spPr>
        <p:txBody>
          <a:bodyPr vert="horz" lIns="91440" tIns="45720" rIns="91440" bIns="45720" rtlCol="0" anchor="ctr">
            <a:normAutofit fontScale="925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Wingdings 2" charset="2"/>
              <a:buNone/>
            </a:pPr>
            <a:endParaRPr lang="en-US" dirty="0"/>
          </a:p>
          <a:p>
            <a:endParaRPr lang="en-US" dirty="0"/>
          </a:p>
          <a:p>
            <a:pPr marL="0" indent="0">
              <a:buFont typeface="Wingdings 2" charset="2"/>
              <a:buNone/>
            </a:pPr>
            <a:r>
              <a:rPr lang="en-US" dirty="0"/>
              <a:t>ESP NOW Responders receiving commands</a:t>
            </a:r>
          </a:p>
          <a:p>
            <a:endParaRPr lang="en-US" dirty="0"/>
          </a:p>
          <a:p>
            <a:endParaRPr lang="en-US" dirty="0"/>
          </a:p>
        </p:txBody>
      </p:sp>
      <p:pic>
        <p:nvPicPr>
          <p:cNvPr id="12" name="Picture 11">
            <a:extLst>
              <a:ext uri="{FF2B5EF4-FFF2-40B4-BE49-F238E27FC236}">
                <a16:creationId xmlns:a16="http://schemas.microsoft.com/office/drawing/2014/main" id="{E0449B04-B7CC-C433-9AEE-D479B4F4FDA8}"/>
              </a:ext>
            </a:extLst>
          </p:cNvPr>
          <p:cNvPicPr>
            <a:picLocks noChangeAspect="1"/>
          </p:cNvPicPr>
          <p:nvPr/>
        </p:nvPicPr>
        <p:blipFill>
          <a:blip r:embed="rId2"/>
          <a:stretch>
            <a:fillRect/>
          </a:stretch>
        </p:blipFill>
        <p:spPr>
          <a:xfrm>
            <a:off x="6904889" y="4446448"/>
            <a:ext cx="5034632" cy="1661428"/>
          </a:xfrm>
          <a:prstGeom prst="rect">
            <a:avLst/>
          </a:prstGeom>
        </p:spPr>
      </p:pic>
      <p:pic>
        <p:nvPicPr>
          <p:cNvPr id="16" name="Picture 15">
            <a:extLst>
              <a:ext uri="{FF2B5EF4-FFF2-40B4-BE49-F238E27FC236}">
                <a16:creationId xmlns:a16="http://schemas.microsoft.com/office/drawing/2014/main" id="{637BF7C7-C29E-EB96-48A8-28C46A357CF2}"/>
              </a:ext>
            </a:extLst>
          </p:cNvPr>
          <p:cNvPicPr>
            <a:picLocks noChangeAspect="1"/>
          </p:cNvPicPr>
          <p:nvPr/>
        </p:nvPicPr>
        <p:blipFill>
          <a:blip r:embed="rId3"/>
          <a:srcRect r="8348"/>
          <a:stretch>
            <a:fillRect/>
          </a:stretch>
        </p:blipFill>
        <p:spPr>
          <a:xfrm>
            <a:off x="6604906" y="2533650"/>
            <a:ext cx="5120655" cy="1744892"/>
          </a:xfrm>
          <a:prstGeom prst="rect">
            <a:avLst/>
          </a:prstGeom>
        </p:spPr>
      </p:pic>
      <p:pic>
        <p:nvPicPr>
          <p:cNvPr id="18" name="Picture 17">
            <a:extLst>
              <a:ext uri="{FF2B5EF4-FFF2-40B4-BE49-F238E27FC236}">
                <a16:creationId xmlns:a16="http://schemas.microsoft.com/office/drawing/2014/main" id="{05D1737D-E991-D530-CB3A-C80B12A65174}"/>
              </a:ext>
            </a:extLst>
          </p:cNvPr>
          <p:cNvPicPr>
            <a:picLocks noChangeAspect="1"/>
          </p:cNvPicPr>
          <p:nvPr/>
        </p:nvPicPr>
        <p:blipFill>
          <a:blip r:embed="rId4"/>
          <a:stretch>
            <a:fillRect/>
          </a:stretch>
        </p:blipFill>
        <p:spPr>
          <a:xfrm>
            <a:off x="466439" y="2559219"/>
            <a:ext cx="5480305" cy="1669881"/>
          </a:xfrm>
          <a:prstGeom prst="rect">
            <a:avLst/>
          </a:prstGeom>
        </p:spPr>
      </p:pic>
    </p:spTree>
    <p:extLst>
      <p:ext uri="{BB962C8B-B14F-4D97-AF65-F5344CB8AC3E}">
        <p14:creationId xmlns:p14="http://schemas.microsoft.com/office/powerpoint/2010/main" val="2987772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705B7-0416-6C3F-48C7-DFA896CEC5B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BED7F151-5A76-B26E-2E2D-47A55D2BEA07}"/>
              </a:ext>
            </a:extLst>
          </p:cNvPr>
          <p:cNvSpPr>
            <a:spLocks noGrp="1"/>
          </p:cNvSpPr>
          <p:nvPr>
            <p:ph type="body" idx="4294967295"/>
          </p:nvPr>
        </p:nvSpPr>
        <p:spPr>
          <a:xfrm>
            <a:off x="600255" y="1606550"/>
            <a:ext cx="10858500" cy="3249613"/>
          </a:xfrm>
        </p:spPr>
        <p:txBody>
          <a:bodyPr>
            <a:normAutofit fontScale="85000" lnSpcReduction="20000"/>
          </a:bodyPr>
          <a:lstStyle/>
          <a:p>
            <a:pPr marL="0" indent="0" algn="l">
              <a:buNone/>
            </a:pPr>
            <a:endParaRPr lang="en-US" dirty="0"/>
          </a:p>
          <a:p>
            <a:pPr marL="0" indent="0" algn="l">
              <a:buNone/>
            </a:pPr>
            <a:r>
              <a:rPr lang="en-US" dirty="0"/>
              <a:t>This project demonstrated the potential for implementing swarm robotics using the ESP32’s built-in wireless communication together with Tiva and MSP432 microcontrollers. The project successfully achieved the transition from manual to autonomous operation, although the transition from autonomous back to manual control still requires further refinement. Future work will focus on improving transition reliability and expanding the swarm capabilities of the robots. This may be improved by using timer interrupts to detect the presence or loss of the control signal, rather than relying solely on polling methods.</a:t>
            </a:r>
          </a:p>
          <a:p>
            <a:pPr marL="0" indent="0" algn="l">
              <a:buNone/>
            </a:pPr>
            <a:r>
              <a:rPr lang="en-US" dirty="0"/>
              <a:t>The project also provided valuable experience in embedded systems design, hardware-level programming, finite state machine implementation, and wireless communication. In addition, it highlighted the importance of debugging and iterative design in building reliable embedded systems. Overall, the work serves as a strong example of how simple swarm robotics behavior can be developed using decentralized control. With the addition of more advanced sensors, such as localization and environmental sensing, the robots could make more intelligent decisions based on both peer interactions and environmental conditions, leading to more advanced and natural swarm behavior.</a:t>
            </a:r>
          </a:p>
          <a:p>
            <a:pPr marL="0" indent="0" algn="l">
              <a:buNone/>
            </a:pPr>
            <a:endParaRPr lang="en-US" dirty="0"/>
          </a:p>
          <a:p>
            <a:pPr algn="l"/>
            <a:endParaRPr lang="en-US" dirty="0"/>
          </a:p>
        </p:txBody>
      </p:sp>
      <p:sp>
        <p:nvSpPr>
          <p:cNvPr id="11" name="Title 8">
            <a:extLst>
              <a:ext uri="{FF2B5EF4-FFF2-40B4-BE49-F238E27FC236}">
                <a16:creationId xmlns:a16="http://schemas.microsoft.com/office/drawing/2014/main" id="{B8264617-0CF7-B4A8-1604-A1558B2B03E0}"/>
              </a:ext>
            </a:extLst>
          </p:cNvPr>
          <p:cNvSpPr txBox="1">
            <a:spLocks/>
          </p:cNvSpPr>
          <p:nvPr/>
        </p:nvSpPr>
        <p:spPr>
          <a:xfrm>
            <a:off x="1011238" y="552090"/>
            <a:ext cx="4725328" cy="646981"/>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r" defTabSz="457200" rtl="0" eaLnBrk="1" latinLnBrk="0" hangingPunct="1">
              <a:spcBef>
                <a:spcPct val="0"/>
              </a:spcBef>
              <a:buNone/>
              <a:defRPr sz="4800" b="1" kern="1200" cap="none">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800" dirty="0"/>
              <a:t>Conclusion</a:t>
            </a:r>
          </a:p>
        </p:txBody>
      </p:sp>
    </p:spTree>
    <p:extLst>
      <p:ext uri="{BB962C8B-B14F-4D97-AF65-F5344CB8AC3E}">
        <p14:creationId xmlns:p14="http://schemas.microsoft.com/office/powerpoint/2010/main" val="3991940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3" name="Freeform 6">
            <a:extLst>
              <a:ext uri="{FF2B5EF4-FFF2-40B4-BE49-F238E27FC236}">
                <a16:creationId xmlns:a16="http://schemas.microsoft.com/office/drawing/2014/main" id="{E5A10C92-5805-4C39-9BF6-507F3B9661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0C2CC41E-4EEC-4D67-B433-E1CDC58798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1153"/>
            <a:ext cx="12192001" cy="6880304"/>
          </a:xfrm>
          <a:prstGeom prst="rect">
            <a:avLst/>
          </a:prstGeom>
          <a:solidFill>
            <a:schemeClr val="accent1">
              <a:alpha val="62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Freeform 22">
            <a:extLst>
              <a:ext uri="{FF2B5EF4-FFF2-40B4-BE49-F238E27FC236}">
                <a16:creationId xmlns:a16="http://schemas.microsoft.com/office/drawing/2014/main" id="{B114AB90-13F9-48EF-BFF7-7634459AA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25094"/>
            <a:ext cx="12192000" cy="2332906"/>
          </a:xfrm>
          <a:custGeom>
            <a:avLst/>
            <a:gdLst>
              <a:gd name="connsiteX0" fmla="*/ 0 w 12192000"/>
              <a:gd name="connsiteY0" fmla="*/ 0 h 2332906"/>
              <a:gd name="connsiteX1" fmla="*/ 1996017 w 12192000"/>
              <a:gd name="connsiteY1" fmla="*/ 0 h 2332906"/>
              <a:gd name="connsiteX2" fmla="*/ 2377017 w 12192000"/>
              <a:gd name="connsiteY2" fmla="*/ 263783 h 2332906"/>
              <a:gd name="connsiteX3" fmla="*/ 2385484 w 12192000"/>
              <a:gd name="connsiteY3" fmla="*/ 266713 h 2332906"/>
              <a:gd name="connsiteX4" fmla="*/ 2398184 w 12192000"/>
              <a:gd name="connsiteY4" fmla="*/ 271110 h 2332906"/>
              <a:gd name="connsiteX5" fmla="*/ 2410883 w 12192000"/>
              <a:gd name="connsiteY5" fmla="*/ 275506 h 2332906"/>
              <a:gd name="connsiteX6" fmla="*/ 2421467 w 12192000"/>
              <a:gd name="connsiteY6" fmla="*/ 275506 h 2332906"/>
              <a:gd name="connsiteX7" fmla="*/ 2434167 w 12192000"/>
              <a:gd name="connsiteY7" fmla="*/ 275506 h 2332906"/>
              <a:gd name="connsiteX8" fmla="*/ 2444750 w 12192000"/>
              <a:gd name="connsiteY8" fmla="*/ 271110 h 2332906"/>
              <a:gd name="connsiteX9" fmla="*/ 2457450 w 12192000"/>
              <a:gd name="connsiteY9" fmla="*/ 266713 h 2332906"/>
              <a:gd name="connsiteX10" fmla="*/ 2465917 w 12192000"/>
              <a:gd name="connsiteY10" fmla="*/ 263783 h 2332906"/>
              <a:gd name="connsiteX11" fmla="*/ 2846917 w 12192000"/>
              <a:gd name="connsiteY11" fmla="*/ 0 h 2332906"/>
              <a:gd name="connsiteX12" fmla="*/ 12192000 w 12192000"/>
              <a:gd name="connsiteY12" fmla="*/ 0 h 2332906"/>
              <a:gd name="connsiteX13" fmla="*/ 12192000 w 12192000"/>
              <a:gd name="connsiteY13" fmla="*/ 2332906 h 2332906"/>
              <a:gd name="connsiteX14" fmla="*/ 0 w 12192000"/>
              <a:gd name="connsiteY14" fmla="*/ 2332906 h 233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2332906">
                <a:moveTo>
                  <a:pt x="0" y="0"/>
                </a:moveTo>
                <a:lnTo>
                  <a:pt x="1996017" y="0"/>
                </a:lnTo>
                <a:lnTo>
                  <a:pt x="2377017" y="263783"/>
                </a:lnTo>
                <a:lnTo>
                  <a:pt x="2385484" y="266713"/>
                </a:lnTo>
                <a:lnTo>
                  <a:pt x="2398184" y="271110"/>
                </a:lnTo>
                <a:lnTo>
                  <a:pt x="2410883" y="275506"/>
                </a:lnTo>
                <a:lnTo>
                  <a:pt x="2421467" y="275506"/>
                </a:lnTo>
                <a:lnTo>
                  <a:pt x="2434167" y="275506"/>
                </a:lnTo>
                <a:lnTo>
                  <a:pt x="2444750" y="271110"/>
                </a:lnTo>
                <a:lnTo>
                  <a:pt x="2457450" y="266713"/>
                </a:lnTo>
                <a:lnTo>
                  <a:pt x="2465917" y="263783"/>
                </a:lnTo>
                <a:lnTo>
                  <a:pt x="2846917" y="0"/>
                </a:lnTo>
                <a:lnTo>
                  <a:pt x="12192000" y="0"/>
                </a:lnTo>
                <a:lnTo>
                  <a:pt x="12192000" y="2332906"/>
                </a:lnTo>
                <a:lnTo>
                  <a:pt x="0" y="2332906"/>
                </a:lnTo>
                <a:close/>
              </a:path>
            </a:pathLst>
          </a:custGeom>
          <a:solidFill>
            <a:schemeClr val="bg1">
              <a:alpha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66081D-517B-5D43-A7B4-E67DDEDC0B31}"/>
              </a:ext>
            </a:extLst>
          </p:cNvPr>
          <p:cNvSpPr>
            <a:spLocks noGrp="1"/>
          </p:cNvSpPr>
          <p:nvPr>
            <p:ph type="title"/>
          </p:nvPr>
        </p:nvSpPr>
        <p:spPr>
          <a:xfrm>
            <a:off x="4319774" y="5304562"/>
            <a:ext cx="3552449" cy="694862"/>
          </a:xfrm>
        </p:spPr>
        <p:txBody>
          <a:bodyPr vert="horz" lIns="91440" tIns="45720" rIns="91440" bIns="45720" rtlCol="0" anchor="b">
            <a:normAutofit/>
          </a:bodyPr>
          <a:lstStyle/>
          <a:p>
            <a:pPr algn="l">
              <a:lnSpc>
                <a:spcPct val="90000"/>
              </a:lnSpc>
            </a:pPr>
            <a:r>
              <a:rPr lang="en-US" sz="4000" dirty="0"/>
              <a:t>Thank You.</a:t>
            </a:r>
          </a:p>
        </p:txBody>
      </p:sp>
      <p:pic>
        <p:nvPicPr>
          <p:cNvPr id="5" name="Picture 4">
            <a:extLst>
              <a:ext uri="{FF2B5EF4-FFF2-40B4-BE49-F238E27FC236}">
                <a16:creationId xmlns:a16="http://schemas.microsoft.com/office/drawing/2014/main" id="{F538D54A-47B7-B01B-3328-2E4F45A0578B}"/>
              </a:ext>
            </a:extLst>
          </p:cNvPr>
          <p:cNvPicPr>
            <a:picLocks noChangeAspect="1"/>
          </p:cNvPicPr>
          <p:nvPr/>
        </p:nvPicPr>
        <p:blipFill>
          <a:blip r:embed="rId2"/>
          <a:stretch>
            <a:fillRect/>
          </a:stretch>
        </p:blipFill>
        <p:spPr>
          <a:xfrm>
            <a:off x="5134708" y="-586592"/>
            <a:ext cx="7954587" cy="5303058"/>
          </a:xfrm>
          <a:prstGeom prst="rect">
            <a:avLst/>
          </a:prstGeom>
        </p:spPr>
      </p:pic>
      <p:sp>
        <p:nvSpPr>
          <p:cNvPr id="4" name="Title 1">
            <a:extLst>
              <a:ext uri="{FF2B5EF4-FFF2-40B4-BE49-F238E27FC236}">
                <a16:creationId xmlns:a16="http://schemas.microsoft.com/office/drawing/2014/main" id="{7EFCEC9C-8229-76C7-3069-87F3E907F388}"/>
              </a:ext>
            </a:extLst>
          </p:cNvPr>
          <p:cNvSpPr txBox="1">
            <a:spLocks/>
          </p:cNvSpPr>
          <p:nvPr/>
        </p:nvSpPr>
        <p:spPr>
          <a:xfrm>
            <a:off x="965773" y="448169"/>
            <a:ext cx="9513732" cy="3592742"/>
          </a:xfrm>
          <a:prstGeom prst="rect">
            <a:avLst/>
          </a:prstGeom>
          <a:effectLst>
            <a:outerShdw blurRad="50800" dir="14400000">
              <a:srgbClr val="000000">
                <a:alpha val="60000"/>
              </a:srgbClr>
            </a:outerShdw>
          </a:effectLst>
        </p:spPr>
        <p:txBody>
          <a:bodyPr vert="horz" lIns="91440" tIns="45720" rIns="91440" bIns="45720" rtlCol="0" anchor="b">
            <a:normAutofit/>
          </a:bodyPr>
          <a:lstStyle>
            <a:lvl1pPr algn="r" defTabSz="457200" rtl="0" eaLnBrk="1" latinLnBrk="0" hangingPunct="1">
              <a:spcBef>
                <a:spcPct val="0"/>
              </a:spcBef>
              <a:buNone/>
              <a:defRPr sz="4800" b="1" kern="1200" cap="none">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ct val="90000"/>
              </a:lnSpc>
            </a:pPr>
            <a:r>
              <a:rPr lang="en-US" sz="1800" dirty="0"/>
              <a:t>Video links</a:t>
            </a:r>
          </a:p>
          <a:p>
            <a:pPr algn="ctr">
              <a:lnSpc>
                <a:spcPct val="90000"/>
              </a:lnSpc>
            </a:pPr>
            <a:endParaRPr lang="en-US" sz="1800" dirty="0"/>
          </a:p>
          <a:p>
            <a:pPr algn="ctr">
              <a:lnSpc>
                <a:spcPct val="90000"/>
              </a:lnSpc>
            </a:pPr>
            <a:endParaRPr lang="en-US" sz="1800" dirty="0"/>
          </a:p>
          <a:p>
            <a:pPr algn="l">
              <a:lnSpc>
                <a:spcPct val="90000"/>
              </a:lnSpc>
            </a:pPr>
            <a:r>
              <a:rPr lang="en-US" sz="1800" dirty="0"/>
              <a:t>ESP-NOW wireless communication</a:t>
            </a:r>
          </a:p>
          <a:p>
            <a:pPr algn="l">
              <a:lnSpc>
                <a:spcPct val="90000"/>
              </a:lnSpc>
            </a:pPr>
            <a:r>
              <a:rPr lang="en-US" sz="1800" dirty="0">
                <a:hlinkClick r:id="rId3"/>
              </a:rPr>
              <a:t>https://youtu.be/asMD70wlka4</a:t>
            </a:r>
            <a:endParaRPr lang="en-US" sz="1800" dirty="0"/>
          </a:p>
          <a:p>
            <a:pPr algn="l">
              <a:lnSpc>
                <a:spcPct val="90000"/>
              </a:lnSpc>
            </a:pPr>
            <a:endParaRPr lang="en-US" sz="1800" dirty="0"/>
          </a:p>
          <a:p>
            <a:pPr algn="l">
              <a:lnSpc>
                <a:spcPct val="90000"/>
              </a:lnSpc>
            </a:pPr>
            <a:r>
              <a:rPr lang="en-US" sz="1800" dirty="0"/>
              <a:t>Manual Mode </a:t>
            </a:r>
          </a:p>
          <a:p>
            <a:pPr algn="l">
              <a:lnSpc>
                <a:spcPct val="90000"/>
              </a:lnSpc>
            </a:pPr>
            <a:r>
              <a:rPr lang="en-US" sz="1800" dirty="0">
                <a:hlinkClick r:id="rId4"/>
              </a:rPr>
              <a:t>https://youtu.be/8eCgVpozRfA</a:t>
            </a:r>
            <a:endParaRPr lang="en-US" sz="1800" dirty="0"/>
          </a:p>
          <a:p>
            <a:pPr algn="l">
              <a:lnSpc>
                <a:spcPct val="90000"/>
              </a:lnSpc>
            </a:pPr>
            <a:endParaRPr lang="en-US" sz="1800" dirty="0"/>
          </a:p>
          <a:p>
            <a:pPr algn="l">
              <a:lnSpc>
                <a:spcPct val="90000"/>
              </a:lnSpc>
            </a:pPr>
            <a:r>
              <a:rPr lang="en-US" sz="1800" dirty="0"/>
              <a:t>Autonomous Mode</a:t>
            </a:r>
          </a:p>
          <a:p>
            <a:pPr algn="l">
              <a:lnSpc>
                <a:spcPct val="90000"/>
              </a:lnSpc>
            </a:pPr>
            <a:r>
              <a:rPr lang="en-US" sz="1800" dirty="0">
                <a:hlinkClick r:id="rId5"/>
              </a:rPr>
              <a:t>https://www.youtube.com/watch?v=fQHsLGS3hqU</a:t>
            </a:r>
            <a:endParaRPr lang="en-US" sz="1800" dirty="0"/>
          </a:p>
          <a:p>
            <a:pPr algn="l">
              <a:lnSpc>
                <a:spcPct val="90000"/>
              </a:lnSpc>
            </a:pPr>
            <a:endParaRPr lang="en-US" sz="1800" dirty="0"/>
          </a:p>
          <a:p>
            <a:pPr algn="l">
              <a:lnSpc>
                <a:spcPct val="90000"/>
              </a:lnSpc>
            </a:pPr>
            <a:endParaRPr lang="en-US" sz="1800" dirty="0"/>
          </a:p>
        </p:txBody>
      </p:sp>
    </p:spTree>
    <p:extLst>
      <p:ext uri="{BB962C8B-B14F-4D97-AF65-F5344CB8AC3E}">
        <p14:creationId xmlns:p14="http://schemas.microsoft.com/office/powerpoint/2010/main" val="1415831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D0D4BF-3F40-4470-7A42-03FB744BF1AC}"/>
              </a:ext>
            </a:extLst>
          </p:cNvPr>
          <p:cNvSpPr>
            <a:spLocks noGrp="1"/>
          </p:cNvSpPr>
          <p:nvPr>
            <p:ph type="body" idx="4294967295"/>
          </p:nvPr>
        </p:nvSpPr>
        <p:spPr>
          <a:xfrm>
            <a:off x="533762" y="1097579"/>
            <a:ext cx="11368935" cy="4365574"/>
          </a:xfrm>
        </p:spPr>
        <p:txBody>
          <a:bodyPr>
            <a:normAutofit fontScale="92500" lnSpcReduction="10000"/>
          </a:bodyPr>
          <a:lstStyle/>
          <a:p>
            <a:pPr marL="0" indent="0" algn="ctr">
              <a:buNone/>
            </a:pPr>
            <a:r>
              <a:rPr lang="en-US" dirty="0"/>
              <a:t>Works Cited</a:t>
            </a:r>
          </a:p>
          <a:p>
            <a:pPr algn="ctr"/>
            <a:endParaRPr lang="en-US" dirty="0"/>
          </a:p>
          <a:p>
            <a:pPr algn="l"/>
            <a:r>
              <a:rPr lang="en-US" dirty="0">
                <a:hlinkClick r:id="rId2"/>
              </a:rPr>
              <a:t>https://onlinelibrary.wiley.com/doi/full/10.5402/2013/608164</a:t>
            </a:r>
            <a:endParaRPr lang="en-US" dirty="0"/>
          </a:p>
          <a:p>
            <a:pPr algn="l"/>
            <a:r>
              <a:rPr lang="en-US" dirty="0">
                <a:hlinkClick r:id="rId3"/>
              </a:rPr>
              <a:t>https://www.espressif.com/en/solutions/low-power-solutions/esp-now</a:t>
            </a:r>
            <a:endParaRPr lang="en-US" dirty="0"/>
          </a:p>
          <a:p>
            <a:pPr algn="l"/>
            <a:r>
              <a:rPr lang="en-US" dirty="0">
                <a:hlinkClick r:id="rId4"/>
              </a:rPr>
              <a:t>https://www.mdpi.com/2504-446X/7/4/269</a:t>
            </a:r>
            <a:endParaRPr lang="en-US" dirty="0"/>
          </a:p>
          <a:p>
            <a:pPr algn="l"/>
            <a:r>
              <a:rPr lang="en-US" dirty="0">
                <a:hlinkClick r:id="rId5"/>
              </a:rPr>
              <a:t>https://www.youtube.com/watch?v=bEKjCDDUPaU&amp;t=1s</a:t>
            </a:r>
            <a:endParaRPr lang="en-US" dirty="0"/>
          </a:p>
          <a:p>
            <a:pPr algn="l"/>
            <a:r>
              <a:rPr lang="en-US" dirty="0">
                <a:hlinkClick r:id="rId6"/>
              </a:rPr>
              <a:t>https://github.com/sparkfun/HC-SR04_UltrasonicSensor/blob/master/Firmware/HC-SR04_UltrasonicSensorExample/HC-SR04_UltrasonicSensorExample.ino</a:t>
            </a:r>
            <a:endParaRPr lang="en-US" dirty="0"/>
          </a:p>
          <a:p>
            <a:pPr algn="l"/>
            <a:r>
              <a:rPr lang="en-US" dirty="0">
                <a:hlinkClick r:id="rId7"/>
              </a:rPr>
              <a:t>https://cdn.sparkfun.com/datasheets/Sensors/Proximity/HCSR04.pdf</a:t>
            </a:r>
            <a:endParaRPr lang="en-US" dirty="0"/>
          </a:p>
          <a:p>
            <a:pPr algn="l"/>
            <a:r>
              <a:rPr lang="en-US" dirty="0">
                <a:hlinkClick r:id="rId8"/>
              </a:rPr>
              <a:t>https://github.com/espressif/esp-idf/tree/c0087486/examples/wifi/espnow</a:t>
            </a:r>
            <a:endParaRPr lang="en-US" dirty="0"/>
          </a:p>
          <a:p>
            <a:pPr algn="l"/>
            <a:r>
              <a:rPr lang="en-US" dirty="0">
                <a:hlinkClick r:id="rId9"/>
              </a:rPr>
              <a:t>https://github.com/ricardoquesada/bluepad32</a:t>
            </a:r>
            <a:endParaRPr lang="en-US" dirty="0"/>
          </a:p>
          <a:p>
            <a:pPr algn="l"/>
            <a:r>
              <a:rPr lang="en-US" dirty="0">
                <a:hlinkClick r:id="rId10"/>
              </a:rPr>
              <a:t>https://www.axialadventure.com/product/1-24-scx24-1967-chevrolet-c10-4wd-truck-rtr/AXI00001V2.html</a:t>
            </a:r>
            <a:endParaRPr lang="en-US" dirty="0"/>
          </a:p>
          <a:p>
            <a:pPr algn="l"/>
            <a:endParaRPr lang="en-US" dirty="0"/>
          </a:p>
          <a:p>
            <a:pPr algn="l"/>
            <a:endParaRPr lang="en-US" dirty="0"/>
          </a:p>
          <a:p>
            <a:pPr algn="l"/>
            <a:endParaRPr lang="en-US" dirty="0"/>
          </a:p>
          <a:p>
            <a:pPr algn="l"/>
            <a:endParaRPr lang="en-US" dirty="0"/>
          </a:p>
          <a:p>
            <a:pPr algn="ctr"/>
            <a:endParaRPr lang="en-US" dirty="0"/>
          </a:p>
          <a:p>
            <a:endParaRPr lang="en-US" dirty="0"/>
          </a:p>
        </p:txBody>
      </p:sp>
    </p:spTree>
    <p:extLst>
      <p:ext uri="{BB962C8B-B14F-4D97-AF65-F5344CB8AC3E}">
        <p14:creationId xmlns:p14="http://schemas.microsoft.com/office/powerpoint/2010/main" val="1229567254"/>
      </p:ext>
    </p:extLst>
  </p:cSld>
  <p:clrMapOvr>
    <a:masterClrMapping/>
  </p:clrMapOvr>
</p:sld>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15C130-17B0-43C9-B99C-584294C40B51}">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F0B771C-53D0-4C6A-8C2A-F95E45907F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E1812AF-5C4C-4B75-9015-C90088D3D4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TM10001114[[fn=Gallery]]</Template>
  <TotalTime>4053</TotalTime>
  <Words>1273</Words>
  <Application>Microsoft Office PowerPoint</Application>
  <PresentationFormat>Widescreen</PresentationFormat>
  <Paragraphs>123</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Century Gothic</vt:lpstr>
      <vt:lpstr>Wingdings 2</vt:lpstr>
      <vt:lpstr>Quotable</vt:lpstr>
      <vt:lpstr>PowerPoint Presentation</vt:lpstr>
      <vt:lpstr>SWARM Robotics Behavior  ECE-528 Robotics and Embedded Systems  Ricardo Zaragoza Instructor: Aaron Nanas Spring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Zaragoza, Ricardo</dc:creator>
  <cp:lastModifiedBy>Zaragoza, Ricardo</cp:lastModifiedBy>
  <cp:revision>21</cp:revision>
  <dcterms:created xsi:type="dcterms:W3CDTF">2026-05-02T08:16:57Z</dcterms:created>
  <dcterms:modified xsi:type="dcterms:W3CDTF">2026-05-07T05:27:23Z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